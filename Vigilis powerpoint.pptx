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75" r:id="rId6"/>
    <p:sldId id="276" r:id="rId7"/>
    <p:sldId id="260" r:id="rId8"/>
    <p:sldId id="261" r:id="rId9"/>
    <p:sldId id="263" r:id="rId10"/>
    <p:sldId id="264" r:id="rId11"/>
    <p:sldId id="265" r:id="rId12"/>
    <p:sldId id="274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10"/>
  </p:normalViewPr>
  <p:slideViewPr>
    <p:cSldViewPr snapToGrid="0" snapToObjects="1">
      <p:cViewPr varScale="1">
        <p:scale>
          <a:sx n="69" d="100"/>
          <a:sy n="69" d="100"/>
        </p:scale>
        <p:origin x="78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59692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For our exceptional</a:t>
            </a:r>
            <a:r>
              <a:rPr lang="en-US" baseline="0" dirty="0" smtClean="0"/>
              <a:t> presentation our plan of work will be as follows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Only the company presentation and the theme.</a:t>
            </a:r>
            <a:r>
              <a:rPr lang="en-US" baseline="0" dirty="0" smtClean="0"/>
              <a:t> It talks mainly the existing system, and it is done by the survey</a:t>
            </a:r>
          </a:p>
          <a:p>
            <a:r>
              <a:rPr lang="en-US" baseline="0" dirty="0" smtClean="0"/>
              <a:t>We carried out a survey to gather more statistics a. We took pertinent questions to put you in the context. The first question was “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Which security methods do you currently use?”,</a:t>
            </a:r>
            <a:r>
              <a:rPr 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then the next pertinent question was “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 </a:t>
            </a:r>
            <a:endParaRPr lang="en-US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smtClean="0"/>
              <a:t>“Let me start with something personal.</a:t>
            </a:r>
            <a:endParaRPr lang="en-US" dirty="0" smtClean="0"/>
          </a:p>
          <a:p>
            <a:r>
              <a:rPr lang="en-US" dirty="0" smtClean="0"/>
              <a:t>At one point, my computer was stolen.</a:t>
            </a:r>
          </a:p>
          <a:p>
            <a:r>
              <a:rPr lang="en-US" dirty="0" smtClean="0"/>
              <a:t>For some people, it may sound like just a computer. But for a student, that computer can contain months or even years of work, projects, documents, memories, and opportunities.</a:t>
            </a:r>
          </a:p>
          <a:p>
            <a:r>
              <a:rPr lang="en-US" dirty="0" smtClean="0"/>
              <a:t>And the hardest feeling is not only losing the object.</a:t>
            </a:r>
          </a:p>
          <a:p>
            <a:r>
              <a:rPr lang="en-US" b="1" dirty="0" smtClean="0"/>
              <a:t>It is realizing that you had no way to know what was happening until it was already too late.</a:t>
            </a:r>
            <a:endParaRPr lang="en-US" dirty="0" smtClean="0"/>
          </a:p>
          <a:p>
            <a:endParaRPr lang="en-US" dirty="0" smtClean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 smtClean="0"/>
              <a:t>“For example, imagine someone leaves a light on every night in an empty room. One night may not seem like much, but repeated every day, that wasted electricity increases the bill. For a family already struggling financially, even that small waste can become a real burden.”</a:t>
            </a:r>
            <a:endParaRPr lang="en-US" dirty="0" smtClean="0"/>
          </a:p>
          <a:p>
            <a:endParaRPr lang="en-US" dirty="0" smtClean="0"/>
          </a:p>
          <a:p>
            <a:r>
              <a:rPr lang="en-US" dirty="0" smtClean="0"/>
              <a:t>This brings us to</a:t>
            </a:r>
            <a:r>
              <a:rPr lang="en-US" baseline="0" dirty="0" smtClean="0"/>
              <a:t> the three problems we decided to solve SECURITY, ACCESS, AND ENERGY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To solve this</a:t>
            </a:r>
            <a:r>
              <a:rPr lang="en-US" baseline="0" dirty="0" smtClean="0"/>
              <a:t> problem we came up with VIGILIS intelligent house system. </a:t>
            </a:r>
            <a:r>
              <a:rPr lang="en-US" baseline="0" dirty="0" err="1" smtClean="0"/>
              <a:t>Vigilis</a:t>
            </a:r>
            <a:r>
              <a:rPr lang="en-US" baseline="0" dirty="0" smtClean="0"/>
              <a:t> functions in four </a:t>
            </a:r>
            <a:r>
              <a:rPr lang="en-US" baseline="0" smtClean="0"/>
              <a:t>main steps,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solidFill>
            <a:srgbClr val="1F406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2331720"/>
            <a:ext cx="2103120" cy="2103120"/>
          </a:xfrm>
          <a:prstGeom prst="ellipse">
            <a:avLst/>
          </a:prstGeom>
          <a:solidFill>
            <a:srgbClr val="2E4E7C"/>
          </a:solidFill>
          <a:ln/>
        </p:spPr>
      </p:sp>
      <p:sp>
        <p:nvSpPr>
          <p:cNvPr id="4" name="Shape 2"/>
          <p:cNvSpPr/>
          <p:nvPr/>
        </p:nvSpPr>
        <p:spPr>
          <a:xfrm>
            <a:off x="9464040" y="3017520"/>
            <a:ext cx="731520" cy="731520"/>
          </a:xfrm>
          <a:prstGeom prst="ellipse">
            <a:avLst/>
          </a:prstGeom>
          <a:solidFill>
            <a:srgbClr val="122A4E"/>
          </a:solidFill>
          <a:ln/>
          <a:effectLst>
            <a:outerShdw blurRad="101600" dist="38100" dir="5400000" algn="bl" rotWithShape="0">
              <a:srgbClr val="0B1830">
                <a:alpha val="28000"/>
              </a:srgbClr>
            </a:outerShdw>
          </a:effectLst>
        </p:spPr>
      </p:sp>
      <p:pic>
        <p:nvPicPr>
          <p:cNvPr id="5" name="Image 0" descr="/home/claude/assets/hom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32004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1965960"/>
            <a:ext cx="386660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 smtClean="0">
                <a:solidFill>
                  <a:srgbClr val="B49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</a:t>
            </a:r>
            <a:r>
              <a:rPr lang="en-US" sz="1300" b="1" kern="0" spc="300" dirty="0">
                <a:solidFill>
                  <a:srgbClr val="B49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22960" y="2377440"/>
            <a:ext cx="70408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Welcome to the Presentation</a:t>
            </a:r>
            <a:endParaRPr lang="en-US" sz="40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Our Project</a:t>
            </a:r>
            <a:endParaRPr lang="en-US" sz="4000" dirty="0"/>
          </a:p>
        </p:txBody>
      </p:sp>
      <p:sp>
        <p:nvSpPr>
          <p:cNvPr id="8" name="Shape 5"/>
          <p:cNvSpPr/>
          <p:nvPr/>
        </p:nvSpPr>
        <p:spPr>
          <a:xfrm>
            <a:off x="868680" y="4297680"/>
            <a:ext cx="1463040" cy="0"/>
          </a:xfrm>
          <a:prstGeom prst="line">
            <a:avLst/>
          </a:prstGeom>
          <a:noFill/>
          <a:ln w="25400">
            <a:solidFill>
              <a:srgbClr val="B4924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4434840"/>
            <a:ext cx="6583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7D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House System for Smart Lighting</a:t>
            </a:r>
            <a:endParaRPr lang="en-US" sz="14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7D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AI-Powered Security Monitoring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22960" y="59893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kern="0" spc="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VIGILIS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4E"/>
          </a:solidFill>
          <a:ln/>
        </p:spPr>
      </p:sp>
      <p:sp>
        <p:nvSpPr>
          <p:cNvPr id="16" name="Shape 12"/>
          <p:cNvSpPr/>
          <p:nvPr/>
        </p:nvSpPr>
        <p:spPr>
          <a:xfrm>
            <a:off x="0" y="5989320"/>
            <a:ext cx="12191695" cy="548640"/>
          </a:xfrm>
          <a:prstGeom prst="rect">
            <a:avLst/>
          </a:prstGeom>
          <a:solidFill>
            <a:srgbClr val="122A4E"/>
          </a:solidFill>
          <a:ln/>
        </p:spPr>
      </p:sp>
      <p:sp>
        <p:nvSpPr>
          <p:cNvPr id="17" name="Text 13"/>
          <p:cNvSpPr/>
          <p:nvPr/>
        </p:nvSpPr>
        <p:spPr>
          <a:xfrm>
            <a:off x="0" y="598932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2025 – 2026</a:t>
            </a:r>
            <a:endParaRPr lang="en-US" sz="1200" dirty="0"/>
          </a:p>
        </p:txBody>
      </p:sp>
      <p:pic>
        <p:nvPicPr>
          <p:cNvPr id="19" name="Picture 60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7381" y="682780"/>
            <a:ext cx="1397726" cy="455360"/>
          </a:xfrm>
          <a:prstGeom prst="rect">
            <a:avLst/>
          </a:prstGeom>
        </p:spPr>
      </p:pic>
      <p:sp>
        <p:nvSpPr>
          <p:cNvPr id="23" name="ZoneTexte 5">
            <a:extLst>
              <a:ext uri="{FF2B5EF4-FFF2-40B4-BE49-F238E27FC236}">
                <a16:creationId xmlns:a16="http://schemas.microsoft.com/office/drawing/2014/main" id="{BD370DAD-1BBD-6861-E72B-69F6714C6975}"/>
              </a:ext>
            </a:extLst>
          </p:cNvPr>
          <p:cNvSpPr txBox="1"/>
          <p:nvPr/>
        </p:nvSpPr>
        <p:spPr>
          <a:xfrm>
            <a:off x="282345" y="238513"/>
            <a:ext cx="2698750" cy="226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70"/>
              </a:spcBef>
              <a:spcAft>
                <a:spcPts val="70"/>
              </a:spcAft>
            </a:pPr>
            <a:r>
              <a:rPr lang="fr-FR" sz="11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REPUBLIC OF CAMEROUN</a:t>
            </a:r>
            <a:endParaRPr lang="en-US" sz="11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spcBef>
                <a:spcPts val="70"/>
              </a:spcBef>
              <a:spcAft>
                <a:spcPts val="70"/>
              </a:spcAft>
            </a:pPr>
            <a:r>
              <a:rPr lang="fr-FR" sz="11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Paix-Travail-Patrie</a:t>
            </a:r>
          </a:p>
          <a:p>
            <a:pPr algn="ctr">
              <a:spcBef>
                <a:spcPts val="70"/>
              </a:spcBef>
              <a:spcAft>
                <a:spcPts val="70"/>
              </a:spcAft>
            </a:pPr>
            <a:endParaRPr lang="en-US" sz="11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spcBef>
                <a:spcPts val="70"/>
              </a:spcBef>
              <a:spcAft>
                <a:spcPts val="70"/>
              </a:spcAft>
            </a:pPr>
            <a:endParaRPr lang="en-US" sz="11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algn="ctr">
              <a:lnSpc>
                <a:spcPct val="115000"/>
              </a:lnSpc>
              <a:spcBef>
                <a:spcPts val="70"/>
              </a:spcBef>
              <a:spcAft>
                <a:spcPts val="70"/>
              </a:spcAft>
            </a:pPr>
            <a:endParaRPr lang="en-US" sz="1100" dirty="0">
              <a:effectLst/>
              <a:latin typeface="Times New Roman" panose="02020603050405020304" pitchFamily="18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 algn="ctr">
              <a:lnSpc>
                <a:spcPct val="115000"/>
              </a:lnSpc>
              <a:spcBef>
                <a:spcPts val="50"/>
              </a:spcBef>
              <a:spcAft>
                <a:spcPts val="50"/>
              </a:spcAft>
            </a:pPr>
            <a:r>
              <a:rPr lang="en-US" sz="1100" dirty="0">
                <a:effectLst/>
                <a:latin typeface="Times New Roman" panose="02020603050405020304" pitchFamily="18" charset="0"/>
                <a:ea typeface="DengXian" panose="02010600030101010101" pitchFamily="2" charset="-122"/>
                <a:cs typeface="Times New Roman" panose="02020603050405020304" pitchFamily="18" charset="0"/>
              </a:rPr>
              <a:t>AFRICAN INSTITUT OF COMPUTER SCIENCES PAUL BIYA UNNIVERSITY CENTER OF EXCE</a:t>
            </a:r>
            <a:r>
              <a:rPr lang="en-GB" sz="1100" dirty="0">
                <a:effectLst/>
                <a:latin typeface="Times New Roman" panose="02020603050405020304" pitchFamily="18" charset="0"/>
                <a:ea typeface="DengXian" panose="02010600030101010101" pitchFamily="2" charset="-122"/>
                <a:cs typeface="Times New Roman" panose="02020603050405020304" pitchFamily="18" charset="0"/>
              </a:rPr>
              <a:t>LLENCE YAOUNDE </a:t>
            </a:r>
            <a:endParaRPr lang="en-US" sz="1100" dirty="0">
              <a:effectLst/>
              <a:latin typeface="Times New Roman" panose="02020603050405020304" pitchFamily="18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 algn="ctr">
              <a:lnSpc>
                <a:spcPct val="115000"/>
              </a:lnSpc>
              <a:spcBef>
                <a:spcPts val="50"/>
              </a:spcBef>
              <a:spcAft>
                <a:spcPts val="50"/>
              </a:spcAft>
            </a:pPr>
            <a:r>
              <a:rPr lang="en-GB" sz="1100" dirty="0">
                <a:effectLst/>
                <a:latin typeface="Times New Roman" panose="02020603050405020304" pitchFamily="18" charset="0"/>
                <a:ea typeface="DengXian" panose="02010600030101010101" pitchFamily="2" charset="-122"/>
                <a:cs typeface="Times New Roman" panose="02020603050405020304" pitchFamily="18" charset="0"/>
              </a:rPr>
              <a:t>Tel: (237) 22 72 99 57 </a:t>
            </a:r>
            <a:endParaRPr lang="en-US" sz="1100" dirty="0">
              <a:effectLst/>
              <a:latin typeface="Times New Roman" panose="02020603050405020304" pitchFamily="18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 algn="ctr">
              <a:lnSpc>
                <a:spcPct val="115000"/>
              </a:lnSpc>
              <a:spcBef>
                <a:spcPts val="50"/>
              </a:spcBef>
              <a:spcAft>
                <a:spcPts val="50"/>
              </a:spcAft>
            </a:pPr>
            <a:r>
              <a:rPr lang="en-GB" sz="1100" dirty="0">
                <a:effectLst/>
                <a:latin typeface="Times New Roman" panose="02020603050405020304" pitchFamily="18" charset="0"/>
                <a:ea typeface="DengXian" panose="02010600030101010101" pitchFamily="2" charset="-122"/>
                <a:cs typeface="Times New Roman" panose="02020603050405020304" pitchFamily="18" charset="0"/>
              </a:rPr>
              <a:t>Site Web: www.iaicameroun.com</a:t>
            </a:r>
            <a:endParaRPr lang="en-US" sz="1100" kern="100" dirty="0">
              <a:solidFill>
                <a:srgbClr val="080033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US" sz="900" dirty="0"/>
          </a:p>
        </p:txBody>
      </p:sp>
      <p:pic>
        <p:nvPicPr>
          <p:cNvPr id="24" name="Image 6">
            <a:extLst>
              <a:ext uri="{FF2B5EF4-FFF2-40B4-BE49-F238E27FC236}">
                <a16:creationId xmlns:a16="http://schemas.microsoft.com/office/drawing/2014/main" id="{3ABDF0D5-0FB8-5822-49AB-31F4B497EEE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1197" y="636457"/>
            <a:ext cx="741045" cy="548005"/>
          </a:xfrm>
          <a:prstGeom prst="rect">
            <a:avLst/>
          </a:prstGeom>
        </p:spPr>
      </p:pic>
      <p:sp>
        <p:nvSpPr>
          <p:cNvPr id="25" name="ZoneTexte 8">
            <a:extLst>
              <a:ext uri="{FF2B5EF4-FFF2-40B4-BE49-F238E27FC236}">
                <a16:creationId xmlns:a16="http://schemas.microsoft.com/office/drawing/2014/main" id="{B84BFCCB-93E7-E6E1-47A5-C3C9640740DD}"/>
              </a:ext>
            </a:extLst>
          </p:cNvPr>
          <p:cNvSpPr txBox="1"/>
          <p:nvPr/>
        </p:nvSpPr>
        <p:spPr>
          <a:xfrm>
            <a:off x="9575075" y="268893"/>
            <a:ext cx="2364059" cy="9951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70"/>
              </a:spcBef>
              <a:spcAft>
                <a:spcPts val="70"/>
              </a:spcAft>
            </a:pPr>
            <a:r>
              <a:rPr lang="fr-FR" sz="11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REPUBLIC OFCAMEROON</a:t>
            </a:r>
            <a:endParaRPr lang="en-US" sz="11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spcBef>
                <a:spcPts val="70"/>
              </a:spcBef>
              <a:spcAft>
                <a:spcPts val="70"/>
              </a:spcAft>
            </a:pPr>
            <a:r>
              <a:rPr lang="fr-FR" sz="11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Paix-Travail-Patrie</a:t>
            </a:r>
          </a:p>
          <a:p>
            <a:pPr algn="ctr">
              <a:spcBef>
                <a:spcPts val="70"/>
              </a:spcBef>
              <a:spcAft>
                <a:spcPts val="70"/>
              </a:spcAft>
            </a:pPr>
            <a:endParaRPr lang="fr-FR" sz="1000" kern="1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spcBef>
                <a:spcPts val="70"/>
              </a:spcBef>
              <a:spcAft>
                <a:spcPts val="70"/>
              </a:spcAft>
            </a:pPr>
            <a:endParaRPr lang="fr-FR" sz="1000" kern="1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algn="ctr">
              <a:spcBef>
                <a:spcPts val="70"/>
              </a:spcBef>
              <a:spcAft>
                <a:spcPts val="70"/>
              </a:spcAft>
            </a:pPr>
            <a:endParaRPr lang="en-US" sz="1000" dirty="0">
              <a:effectLst/>
              <a:latin typeface="Times New Roman" panose="02020603050405020304" pitchFamily="18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Rectangle : coins arrondis 7">
            <a:extLst>
              <a:ext uri="{FF2B5EF4-FFF2-40B4-BE49-F238E27FC236}">
                <a16:creationId xmlns:a16="http://schemas.microsoft.com/office/drawing/2014/main" id="{E69BBC83-4C00-87DB-6338-E0EF921646DD}"/>
              </a:ext>
            </a:extLst>
          </p:cNvPr>
          <p:cNvSpPr/>
          <p:nvPr/>
        </p:nvSpPr>
        <p:spPr>
          <a:xfrm>
            <a:off x="3893083" y="1938966"/>
            <a:ext cx="4728052" cy="300087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PRESENTATION</a:t>
            </a:r>
          </a:p>
        </p:txBody>
      </p:sp>
      <p:sp>
        <p:nvSpPr>
          <p:cNvPr id="27" name="ZoneTexte 11">
            <a:extLst>
              <a:ext uri="{FF2B5EF4-FFF2-40B4-BE49-F238E27FC236}">
                <a16:creationId xmlns:a16="http://schemas.microsoft.com/office/drawing/2014/main" id="{5A5B764D-81C4-0B9C-1F98-91BBCECE4886}"/>
              </a:ext>
            </a:extLst>
          </p:cNvPr>
          <p:cNvSpPr txBox="1"/>
          <p:nvPr/>
        </p:nvSpPr>
        <p:spPr>
          <a:xfrm>
            <a:off x="2259875" y="3635488"/>
            <a:ext cx="7315200" cy="14260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algn="ctr">
              <a:spcBef>
                <a:spcPts val="80"/>
              </a:spcBef>
              <a:spcAft>
                <a:spcPts val="80"/>
              </a:spcAft>
            </a:pPr>
            <a:r>
              <a:rPr lang="en-US" sz="1600" dirty="0" smtClean="0">
                <a:latin typeface="Times New Roman" panose="02020603050405020304" pitchFamily="18" charset="0"/>
                <a:ea typeface="DengXian" panose="02010600030101010101" pitchFamily="2" charset="-122"/>
                <a:cs typeface="Times New Roman" panose="02020603050405020304" pitchFamily="18" charset="0"/>
              </a:rPr>
              <a:t>End of Year</a:t>
            </a:r>
            <a:r>
              <a:rPr lang="en-US" sz="1600" dirty="0" smtClean="0">
                <a:effectLst/>
                <a:latin typeface="Times New Roman" panose="02020603050405020304" pitchFamily="18" charset="0"/>
                <a:ea typeface="DengXian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  <a:cs typeface="Times New Roman" panose="02020603050405020304" pitchFamily="18" charset="0"/>
              </a:rPr>
              <a:t>Project</a:t>
            </a:r>
          </a:p>
          <a:p>
            <a:pPr marL="0" marR="0" algn="ctr">
              <a:spcBef>
                <a:spcPts val="80"/>
              </a:spcBef>
              <a:spcAft>
                <a:spcPts val="80"/>
              </a:spcAft>
            </a:pPr>
            <a:r>
              <a:rPr lang="en-US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  <a:cs typeface="Times New Roman" panose="02020603050405020304" pitchFamily="18" charset="0"/>
              </a:rPr>
              <a:t> In view of obtaining a </a:t>
            </a:r>
            <a:r>
              <a:rPr lang="en-US" sz="1600" b="1" dirty="0">
                <a:effectLst/>
                <a:latin typeface="Times New Roman" panose="02020603050405020304" pitchFamily="18" charset="0"/>
                <a:ea typeface="DengXian" panose="02010600030101010101" pitchFamily="2" charset="-122"/>
                <a:cs typeface="Times New Roman" panose="02020603050405020304" pitchFamily="18" charset="0"/>
              </a:rPr>
              <a:t>Higher Technician Diploma (HTD)</a:t>
            </a:r>
            <a:r>
              <a:rPr lang="en-US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  <a:cs typeface="Times New Roman" panose="02020603050405020304" pitchFamily="18" charset="0"/>
              </a:rPr>
              <a:t> in Computer Sciences.</a:t>
            </a:r>
          </a:p>
          <a:p>
            <a:pPr marL="0" marR="0" algn="ctr">
              <a:spcBef>
                <a:spcPts val="80"/>
              </a:spcBef>
              <a:spcAft>
                <a:spcPts val="80"/>
              </a:spcAft>
            </a:pPr>
            <a:r>
              <a:rPr lang="en-US" sz="1600" dirty="0">
                <a:effectLst/>
                <a:latin typeface="Times New Roman" panose="02020603050405020304" pitchFamily="18" charset="0"/>
                <a:ea typeface="DengXian" panose="02010600030101010101" pitchFamily="2" charset="-122"/>
                <a:cs typeface="Times New Roman" panose="02020603050405020304" pitchFamily="18" charset="0"/>
              </a:rPr>
              <a:t> Option: Software Engineering </a:t>
            </a:r>
          </a:p>
          <a:p>
            <a:pPr marL="0" marR="0" algn="ctr">
              <a:spcBef>
                <a:spcPts val="80"/>
              </a:spcBef>
              <a:spcAft>
                <a:spcPts val="80"/>
              </a:spcAft>
            </a:pPr>
            <a:r>
              <a:rPr lang="en-US" sz="1600" b="1" dirty="0">
                <a:effectLst/>
                <a:latin typeface="Times New Roman" panose="02020603050405020304" pitchFamily="18" charset="0"/>
                <a:ea typeface="DengXian" panose="02010600030101010101" pitchFamily="2" charset="-122"/>
                <a:cs typeface="Times New Roman" panose="02020603050405020304" pitchFamily="18" charset="0"/>
              </a:rPr>
              <a:t>Presented By: </a:t>
            </a:r>
            <a:endParaRPr lang="en-US" sz="1600" dirty="0">
              <a:effectLst/>
              <a:latin typeface="Times New Roman" panose="02020603050405020304" pitchFamily="18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 algn="ctr">
              <a:spcBef>
                <a:spcPts val="80"/>
              </a:spcBef>
              <a:spcAft>
                <a:spcPts val="80"/>
              </a:spcAft>
            </a:pPr>
            <a:r>
              <a:rPr lang="en-US" sz="1600" b="1" dirty="0" smtClean="0">
                <a:latin typeface="Times New Roman" panose="02020603050405020304" pitchFamily="18" charset="0"/>
                <a:ea typeface="DengXian" panose="02010600030101010101" pitchFamily="2" charset="-122"/>
                <a:cs typeface="Times New Roman" panose="02020603050405020304" pitchFamily="18" charset="0"/>
              </a:rPr>
              <a:t>YOGO JEAN ARIEL LEPRECIEUX</a:t>
            </a:r>
            <a:endParaRPr lang="en-US" sz="1600" dirty="0">
              <a:effectLst/>
              <a:latin typeface="Times New Roman" panose="02020603050405020304" pitchFamily="18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ZoneTexte 13">
            <a:extLst>
              <a:ext uri="{FF2B5EF4-FFF2-40B4-BE49-F238E27FC236}">
                <a16:creationId xmlns:a16="http://schemas.microsoft.com/office/drawing/2014/main" id="{66E5E642-5A6C-0FB9-26B0-CE98DD0135F1}"/>
              </a:ext>
            </a:extLst>
          </p:cNvPr>
          <p:cNvSpPr txBox="1"/>
          <p:nvPr/>
        </p:nvSpPr>
        <p:spPr>
          <a:xfrm>
            <a:off x="92013" y="4746767"/>
            <a:ext cx="2016579" cy="871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algn="ctr">
              <a:lnSpc>
                <a:spcPct val="115000"/>
              </a:lnSpc>
              <a:spcBef>
                <a:spcPts val="70"/>
              </a:spcBef>
              <a:spcAft>
                <a:spcPts val="70"/>
              </a:spcAft>
            </a:pPr>
            <a:r>
              <a:rPr lang="en-US" sz="1400" dirty="0">
                <a:effectLst/>
                <a:latin typeface="Times New Roman" panose="02020603050405020304" pitchFamily="18" charset="0"/>
                <a:ea typeface="DengXian" panose="02010600030101010101" pitchFamily="2" charset="-122"/>
                <a:cs typeface="Times New Roman" panose="02020603050405020304" pitchFamily="18" charset="0"/>
              </a:rPr>
              <a:t>Academic Supervisor</a:t>
            </a:r>
          </a:p>
          <a:p>
            <a:pPr marL="0" marR="0" algn="ctr">
              <a:lnSpc>
                <a:spcPct val="115000"/>
              </a:lnSpc>
              <a:spcBef>
                <a:spcPts val="70"/>
              </a:spcBef>
              <a:spcAft>
                <a:spcPts val="70"/>
              </a:spcAft>
            </a:pPr>
            <a:r>
              <a:rPr lang="en-US" sz="1400" b="1" dirty="0">
                <a:effectLst/>
                <a:latin typeface="Times New Roman" panose="02020603050405020304" pitchFamily="18" charset="0"/>
                <a:ea typeface="DengXian" panose="02010600030101010101" pitchFamily="2" charset="-122"/>
                <a:cs typeface="Times New Roman" panose="02020603050405020304" pitchFamily="18" charset="0"/>
              </a:rPr>
              <a:t>Mr. </a:t>
            </a:r>
            <a:r>
              <a:rPr lang="en-US" sz="1400" b="1" dirty="0" smtClean="0">
                <a:latin typeface="Times New Roman" panose="02020603050405020304" pitchFamily="18" charset="0"/>
                <a:ea typeface="DengXian" panose="02010600030101010101" pitchFamily="2" charset="-122"/>
                <a:cs typeface="Times New Roman" panose="02020603050405020304" pitchFamily="18" charset="0"/>
              </a:rPr>
              <a:t>TCHOUA</a:t>
            </a:r>
            <a:endParaRPr lang="en-US" sz="1400" dirty="0">
              <a:effectLst/>
              <a:latin typeface="Times New Roman" panose="02020603050405020304" pitchFamily="18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0" marR="0" algn="ctr">
              <a:lnSpc>
                <a:spcPct val="115000"/>
              </a:lnSpc>
              <a:spcBef>
                <a:spcPts val="70"/>
              </a:spcBef>
              <a:spcAft>
                <a:spcPts val="70"/>
              </a:spcAft>
            </a:pPr>
            <a:r>
              <a:rPr lang="en-US" sz="1400" dirty="0">
                <a:effectLst/>
                <a:latin typeface="Times New Roman" panose="02020603050405020304" pitchFamily="18" charset="0"/>
                <a:ea typeface="DengXian" panose="02010600030101010101" pitchFamily="2" charset="-122"/>
                <a:cs typeface="Times New Roman" panose="02020603050405020304" pitchFamily="18" charset="0"/>
              </a:rPr>
              <a:t>Lecturer at AICS</a:t>
            </a:r>
            <a:endParaRPr lang="en-US" sz="1400" kern="100" dirty="0">
              <a:solidFill>
                <a:srgbClr val="080033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0" name="Rectangle : coins arrondis 6">
            <a:extLst>
              <a:ext uri="{FF2B5EF4-FFF2-40B4-BE49-F238E27FC236}">
                <a16:creationId xmlns:a16="http://schemas.microsoft.com/office/drawing/2014/main" id="{B06DB76A-BA21-E3FD-E729-2577A1DB46E4}"/>
              </a:ext>
            </a:extLst>
          </p:cNvPr>
          <p:cNvSpPr/>
          <p:nvPr/>
        </p:nvSpPr>
        <p:spPr>
          <a:xfrm>
            <a:off x="2195747" y="2327565"/>
            <a:ext cx="7739829" cy="121152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THEME:</a:t>
            </a:r>
            <a:endParaRPr lang="fr-FR" sz="2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fr-FR" sz="2400" b="1" dirty="0" smtClean="0"/>
              <a:t>Design </a:t>
            </a:r>
            <a:r>
              <a:rPr lang="fr-FR" sz="2400" b="1" dirty="0"/>
              <a:t>and </a:t>
            </a:r>
            <a:r>
              <a:rPr lang="fr-FR" sz="2400" b="1" dirty="0" err="1"/>
              <a:t>Implementation</a:t>
            </a:r>
            <a:r>
              <a:rPr lang="fr-FR" sz="2400" b="1" dirty="0"/>
              <a:t> of an Intelligent House System </a:t>
            </a:r>
            <a:r>
              <a:rPr lang="fr-FR" sz="2400" b="1" dirty="0" err="1"/>
              <a:t>Based</a:t>
            </a:r>
            <a:r>
              <a:rPr lang="fr-FR" sz="2400" b="1" dirty="0"/>
              <a:t> on Light </a:t>
            </a:r>
            <a:r>
              <a:rPr lang="fr-FR" sz="2400" b="1" dirty="0" err="1"/>
              <a:t>Intensity</a:t>
            </a:r>
            <a:r>
              <a:rPr lang="fr-FR" sz="2400" b="1" dirty="0"/>
              <a:t> Control and Security Monitoring</a:t>
            </a:r>
            <a:r>
              <a:rPr lang="fr-FR" sz="2400" b="1" dirty="0" smtClean="0"/>
              <a:t>.</a:t>
            </a:r>
            <a:endParaRPr lang="it-CM" sz="2400" dirty="0"/>
          </a:p>
          <a:p>
            <a:pPr algn="ctr"/>
            <a:endParaRPr lang="fr-FR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ZoneTexte 14">
            <a:extLst>
              <a:ext uri="{FF2B5EF4-FFF2-40B4-BE49-F238E27FC236}">
                <a16:creationId xmlns:a16="http://schemas.microsoft.com/office/drawing/2014/main" id="{DE2CB3BE-1782-95B9-58CB-26228F5174C6}"/>
              </a:ext>
            </a:extLst>
          </p:cNvPr>
          <p:cNvSpPr txBox="1"/>
          <p:nvPr/>
        </p:nvSpPr>
        <p:spPr>
          <a:xfrm>
            <a:off x="9471727" y="4746767"/>
            <a:ext cx="2138511" cy="8869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algn="ctr">
              <a:lnSpc>
                <a:spcPct val="115000"/>
              </a:lnSpc>
              <a:spcBef>
                <a:spcPts val="70"/>
              </a:spcBef>
              <a:spcAft>
                <a:spcPts val="70"/>
              </a:spcAft>
            </a:pPr>
            <a:r>
              <a:rPr lang="en-US" sz="1400" dirty="0" smtClean="0">
                <a:latin typeface="Times New Roman" panose="02020603050405020304" pitchFamily="18" charset="0"/>
                <a:ea typeface="DengXian" panose="02010600030101010101" pitchFamily="2" charset="-122"/>
                <a:cs typeface="Times New Roman" panose="02020603050405020304" pitchFamily="18" charset="0"/>
              </a:rPr>
              <a:t>Professional</a:t>
            </a:r>
            <a:r>
              <a:rPr lang="en-US" sz="1400" dirty="0" smtClean="0">
                <a:effectLst/>
                <a:latin typeface="Times New Roman" panose="02020603050405020304" pitchFamily="18" charset="0"/>
                <a:ea typeface="DengXian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sz="1400" dirty="0">
                <a:effectLst/>
                <a:latin typeface="Times New Roman" panose="02020603050405020304" pitchFamily="18" charset="0"/>
                <a:ea typeface="DengXian" panose="02010600030101010101" pitchFamily="2" charset="-122"/>
                <a:cs typeface="Times New Roman" panose="02020603050405020304" pitchFamily="18" charset="0"/>
              </a:rPr>
              <a:t>Supervisor</a:t>
            </a:r>
          </a:p>
          <a:p>
            <a:pPr marL="0" marR="0" algn="ctr">
              <a:lnSpc>
                <a:spcPct val="115000"/>
              </a:lnSpc>
              <a:spcBef>
                <a:spcPts val="70"/>
              </a:spcBef>
              <a:spcAft>
                <a:spcPts val="70"/>
              </a:spcAft>
            </a:pPr>
            <a:r>
              <a:rPr lang="en-US" sz="1400" b="1" dirty="0" err="1" smtClean="0">
                <a:effectLst/>
                <a:latin typeface="Times New Roman" panose="02020603050405020304" pitchFamily="18" charset="0"/>
                <a:ea typeface="DengXian" panose="02010600030101010101" pitchFamily="2" charset="-122"/>
                <a:cs typeface="Times New Roman" panose="02020603050405020304" pitchFamily="18" charset="0"/>
              </a:rPr>
              <a:t>Mr</a:t>
            </a:r>
            <a:r>
              <a:rPr lang="en-US" sz="1400" b="1" dirty="0">
                <a:latin typeface="Times New Roman" panose="02020603050405020304" pitchFamily="18" charset="0"/>
                <a:ea typeface="DengXian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sz="1400" b="1" dirty="0" err="1" smtClean="0">
                <a:latin typeface="Times New Roman" panose="02020603050405020304" pitchFamily="18" charset="0"/>
                <a:ea typeface="DengXian" panose="02010600030101010101" pitchFamily="2" charset="-122"/>
                <a:cs typeface="Times New Roman" panose="02020603050405020304" pitchFamily="18" charset="0"/>
              </a:rPr>
              <a:t>Bangoup</a:t>
            </a:r>
            <a:r>
              <a:rPr lang="en-US" sz="1400" b="1" dirty="0" smtClean="0">
                <a:latin typeface="Times New Roman" panose="02020603050405020304" pitchFamily="18" charset="0"/>
                <a:ea typeface="DengXian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sz="1400" b="1" dirty="0" err="1" smtClean="0">
                <a:latin typeface="Times New Roman" panose="02020603050405020304" pitchFamily="18" charset="0"/>
                <a:ea typeface="DengXian" panose="02010600030101010101" pitchFamily="2" charset="-122"/>
                <a:cs typeface="Times New Roman" panose="02020603050405020304" pitchFamily="18" charset="0"/>
              </a:rPr>
              <a:t>Ruphin</a:t>
            </a:r>
            <a:r>
              <a:rPr lang="en-US" sz="1400" b="1" dirty="0" smtClean="0">
                <a:effectLst/>
                <a:latin typeface="Times New Roman" panose="02020603050405020304" pitchFamily="18" charset="0"/>
                <a:ea typeface="DengXian" panose="02010600030101010101" pitchFamily="2" charset="-122"/>
                <a:cs typeface="Times New Roman" panose="02020603050405020304" pitchFamily="18" charset="0"/>
              </a:rPr>
              <a:t> </a:t>
            </a:r>
          </a:p>
          <a:p>
            <a:pPr marL="0" marR="0" algn="ctr">
              <a:lnSpc>
                <a:spcPct val="115000"/>
              </a:lnSpc>
              <a:spcBef>
                <a:spcPts val="70"/>
              </a:spcBef>
              <a:spcAft>
                <a:spcPts val="70"/>
              </a:spcAft>
            </a:pPr>
            <a:r>
              <a:rPr lang="en-US" sz="1400" dirty="0" smtClean="0">
                <a:latin typeface="Times New Roman" panose="02020603050405020304" pitchFamily="18" charset="0"/>
                <a:ea typeface="DengXian" panose="02010600030101010101" pitchFamily="2" charset="-122"/>
                <a:cs typeface="Times New Roman" panose="02020603050405020304" pitchFamily="18" charset="0"/>
              </a:rPr>
              <a:t>CEO OF INTERLINK</a:t>
            </a:r>
            <a:endParaRPr lang="en-US" sz="1400" dirty="0">
              <a:effectLst/>
              <a:latin typeface="Times New Roman" panose="02020603050405020304" pitchFamily="18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0080" y="749808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2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of Work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1663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  <a:effectLst>
            <a:outerShdw blurRad="127000" dist="38100" dir="5400000" algn="bl" rotWithShape="0">
              <a:srgbClr val="0B183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057400"/>
            <a:ext cx="1005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7EC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1965960" y="2103120"/>
            <a:ext cx="0" cy="86868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94560" y="1828800"/>
            <a:ext cx="33375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172200" y="1828800"/>
            <a:ext cx="51663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  <a:effectLst>
            <a:outerShdw blurRad="127000" dist="38100" dir="5400000" algn="bl" rotWithShape="0">
              <a:srgbClr val="0B183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0" y="2057400"/>
            <a:ext cx="1005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7EC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7498080" y="2103120"/>
            <a:ext cx="0" cy="86868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26680" y="1828800"/>
            <a:ext cx="33375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&amp; Problematic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51663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  <a:effectLst>
            <a:outerShdw blurRad="127000" dist="38100" dir="5400000" algn="bl" rotWithShape="0">
              <a:srgbClr val="0B183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3794760"/>
            <a:ext cx="1005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7EC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Shape 12"/>
          <p:cNvSpPr/>
          <p:nvPr/>
        </p:nvSpPr>
        <p:spPr>
          <a:xfrm>
            <a:off x="1965960" y="3840480"/>
            <a:ext cx="0" cy="86868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94560" y="3566160"/>
            <a:ext cx="33375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172200" y="3566160"/>
            <a:ext cx="51663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  <a:effectLst>
            <a:outerShdw blurRad="127000" dist="38100" dir="5400000" algn="bl" rotWithShape="0">
              <a:srgbClr val="0B183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0" y="3794760"/>
            <a:ext cx="1005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7EC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18" name="Shape 16"/>
          <p:cNvSpPr/>
          <p:nvPr/>
        </p:nvSpPr>
        <p:spPr>
          <a:xfrm>
            <a:off x="7498080" y="3840480"/>
            <a:ext cx="0" cy="86868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26680" y="3566160"/>
            <a:ext cx="33375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smtClean="0"/>
              <a:t>Methodology</a:t>
            </a:r>
            <a:endParaRPr lang="en-US" sz="1600" b="1" dirty="0"/>
          </a:p>
        </p:txBody>
      </p:sp>
      <p:sp>
        <p:nvSpPr>
          <p:cNvPr id="20" name="Shape 18"/>
          <p:cNvSpPr/>
          <p:nvPr/>
        </p:nvSpPr>
        <p:spPr>
          <a:xfrm>
            <a:off x="640080" y="5303520"/>
            <a:ext cx="51663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  <a:effectLst>
            <a:outerShdw blurRad="127000" dist="38100" dir="5400000" algn="bl" rotWithShape="0">
              <a:srgbClr val="0B183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68680" y="5532120"/>
            <a:ext cx="1005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7EC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400" dirty="0"/>
          </a:p>
        </p:txBody>
      </p:sp>
      <p:sp>
        <p:nvSpPr>
          <p:cNvPr id="22" name="Shape 20"/>
          <p:cNvSpPr/>
          <p:nvPr/>
        </p:nvSpPr>
        <p:spPr>
          <a:xfrm>
            <a:off x="1965960" y="5577840"/>
            <a:ext cx="0" cy="86868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94560" y="5303520"/>
            <a:ext cx="33375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172200" y="5303520"/>
            <a:ext cx="51663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  <a:effectLst>
            <a:outerShdw blurRad="127000" dist="38100" dir="5400000" algn="bl" rotWithShape="0">
              <a:srgbClr val="0B183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400800" y="5532120"/>
            <a:ext cx="1005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7EC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3400" dirty="0"/>
          </a:p>
        </p:txBody>
      </p:sp>
      <p:sp>
        <p:nvSpPr>
          <p:cNvPr id="26" name="Shape 24"/>
          <p:cNvSpPr/>
          <p:nvPr/>
        </p:nvSpPr>
        <p:spPr>
          <a:xfrm>
            <a:off x="7498080" y="5577840"/>
            <a:ext cx="0" cy="868680"/>
          </a:xfrm>
          <a:prstGeom prst="line">
            <a:avLst/>
          </a:prstGeom>
          <a:noFill/>
          <a:ln w="12700">
            <a:solidFill>
              <a:srgbClr val="D9DEE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26680" y="5303520"/>
            <a:ext cx="33375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Perspectives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122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VIGILIS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4E"/>
          </a:solidFill>
          <a:ln/>
        </p:spPr>
      </p:sp>
      <p:sp>
        <p:nvSpPr>
          <p:cNvPr id="3" name="Shape 1"/>
          <p:cNvSpPr/>
          <p:nvPr/>
        </p:nvSpPr>
        <p:spPr>
          <a:xfrm>
            <a:off x="9464040" y="2926080"/>
            <a:ext cx="1188720" cy="1188720"/>
          </a:xfrm>
          <a:prstGeom prst="ellipse">
            <a:avLst/>
          </a:prstGeom>
          <a:solidFill>
            <a:srgbClr val="1F4068"/>
          </a:solidFill>
          <a:ln/>
          <a:effectLst>
            <a:outerShdw blurRad="101600" dist="38100" dir="5400000" algn="bl" rotWithShape="0">
              <a:srgbClr val="0B1830">
                <a:alpha val="28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1670166" y="2910840"/>
            <a:ext cx="6123708" cy="117565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kern="0" spc="300" dirty="0">
                <a:solidFill>
                  <a:srgbClr val="B49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INTRODUCTION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122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VIGILIS</a:t>
            </a:r>
            <a:endParaRPr lang="en-US" sz="1050" dirty="0"/>
          </a:p>
        </p:txBody>
      </p:sp>
      <p:pic>
        <p:nvPicPr>
          <p:cNvPr id="9" name="Image 0" descr="/home/claude/assets/hom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0" y="3315788"/>
            <a:ext cx="365760" cy="3657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297348"/>
            <a:ext cx="11055927" cy="6352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5915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799" y="831272"/>
            <a:ext cx="10390909" cy="5361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6471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097280"/>
            <a:ext cx="3657600" cy="3657600"/>
          </a:xfrm>
          <a:prstGeom prst="ellipse">
            <a:avLst/>
          </a:prstGeom>
          <a:solidFill>
            <a:srgbClr val="1F4068"/>
          </a:solidFill>
          <a:ln/>
        </p:spPr>
      </p:sp>
      <p:sp>
        <p:nvSpPr>
          <p:cNvPr id="3" name="Shape 1"/>
          <p:cNvSpPr/>
          <p:nvPr/>
        </p:nvSpPr>
        <p:spPr>
          <a:xfrm>
            <a:off x="-1188720" y="4846320"/>
            <a:ext cx="3108960" cy="3108960"/>
          </a:xfrm>
          <a:prstGeom prst="ellipse">
            <a:avLst/>
          </a:prstGeom>
          <a:solidFill>
            <a:srgbClr val="1F4068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317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B492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6897189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&amp; PROBLEMATIC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868680" y="3794760"/>
            <a:ext cx="1463040" cy="0"/>
          </a:xfrm>
          <a:prstGeom prst="line">
            <a:avLst/>
          </a:prstGeom>
          <a:noFill/>
          <a:ln w="25400">
            <a:solidFill>
              <a:srgbClr val="B4924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402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kern="0" spc="300" dirty="0">
                <a:solidFill>
                  <a:srgbClr val="B49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2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Today's Homes Fall Short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  <a:effectLst>
            <a:outerShdw blurRad="127000" dist="38100" dir="5400000" algn="bl" rotWithShape="0">
              <a:srgbClr val="0B183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94560"/>
            <a:ext cx="685800" cy="685800"/>
          </a:xfrm>
          <a:prstGeom prst="ellipse">
            <a:avLst/>
          </a:prstGeom>
          <a:solidFill>
            <a:srgbClr val="122A4E"/>
          </a:solidFill>
          <a:ln/>
          <a:effectLst>
            <a:outerShdw blurRad="101600" dist="38100" dir="5400000" algn="bl" rotWithShape="0">
              <a:srgbClr val="0B1830">
                <a:alpha val="28000"/>
              </a:srgbClr>
            </a:outerShdw>
          </a:effectLst>
        </p:spPr>
      </p:sp>
      <p:pic>
        <p:nvPicPr>
          <p:cNvPr id="6" name="Image 0" descr="/home/claude/assets/shiel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1570" y="2366010"/>
            <a:ext cx="342900" cy="3429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301752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2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60120" y="3474720"/>
            <a:ext cx="28803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1E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monitoring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1E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detection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1E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intelligent verification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480560" y="187452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  <a:effectLst>
            <a:outerShdw blurRad="127000" dist="38100" dir="5400000" algn="bl" rotWithShape="0">
              <a:srgbClr val="0B183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800600" y="2194560"/>
            <a:ext cx="685800" cy="685800"/>
          </a:xfrm>
          <a:prstGeom prst="ellipse">
            <a:avLst/>
          </a:prstGeom>
          <a:solidFill>
            <a:srgbClr val="122A4E"/>
          </a:solidFill>
          <a:ln/>
          <a:effectLst>
            <a:outerShdw blurRad="101600" dist="38100" dir="5400000" algn="bl" rotWithShape="0">
              <a:srgbClr val="0B1830">
                <a:alpha val="28000"/>
              </a:srgbClr>
            </a:outerShdw>
          </a:effectLst>
        </p:spPr>
      </p:sp>
      <p:pic>
        <p:nvPicPr>
          <p:cNvPr id="11" name="Image 1" descr="/home/claude/assets/bol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2050" y="2366010"/>
            <a:ext cx="342900" cy="3429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800600" y="301752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2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4800600" y="3474720"/>
            <a:ext cx="28803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1E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lighting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1E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Unnecessary consumption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1E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automatic brightness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321040" y="187452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  <a:effectLst>
            <a:outerShdw blurRad="127000" dist="38100" dir="5400000" algn="bl" rotWithShape="0">
              <a:srgbClr val="0B183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41080" y="2194560"/>
            <a:ext cx="685800" cy="685800"/>
          </a:xfrm>
          <a:prstGeom prst="ellipse">
            <a:avLst/>
          </a:prstGeom>
          <a:solidFill>
            <a:srgbClr val="122A4E"/>
          </a:solidFill>
          <a:ln/>
          <a:effectLst>
            <a:outerShdw blurRad="101600" dist="38100" dir="5400000" algn="bl" rotWithShape="0">
              <a:srgbClr val="0B1830">
                <a:alpha val="28000"/>
              </a:srgbClr>
            </a:outerShdw>
          </a:effectLst>
        </p:spPr>
      </p:sp>
      <p:pic>
        <p:nvPicPr>
          <p:cNvPr id="16" name="Image 2" descr="/home/claude/assets/wifi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2530" y="2366010"/>
            <a:ext cx="342900" cy="3429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41080" y="301752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2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8641080" y="3474720"/>
            <a:ext cx="28803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1E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devices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1E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remote control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1E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unified platform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122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VIGILIS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kern="0" spc="300" dirty="0">
                <a:solidFill>
                  <a:srgbClr val="B49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PROBLEMATIC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730088" y="1417320"/>
            <a:ext cx="731520" cy="731520"/>
          </a:xfrm>
          <a:prstGeom prst="ellipse">
            <a:avLst/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B1830">
                <a:alpha val="28000"/>
              </a:srgbClr>
            </a:outerShdw>
          </a:effectLst>
        </p:spPr>
      </p:sp>
      <p:pic>
        <p:nvPicPr>
          <p:cNvPr id="4" name="Image 0" descr="/home/claude/assets/question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2968" y="160020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63040" y="2514600"/>
            <a:ext cx="9262872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24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can a residential environment improve security, lighting efficiency and emergency </a:t>
            </a:r>
            <a:r>
              <a:rPr lang="en-US" sz="2400" i="1" dirty="0" smtClean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response using AI and </a:t>
            </a:r>
            <a:r>
              <a:rPr lang="en-US" sz="2400" i="1" dirty="0" err="1" smtClean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IoT</a:t>
            </a:r>
            <a:r>
              <a:rPr lang="en-US" sz="2400" i="1" dirty="0" smtClean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devices ?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364328" y="5577840"/>
            <a:ext cx="1463040" cy="0"/>
          </a:xfrm>
          <a:prstGeom prst="line">
            <a:avLst/>
          </a:prstGeom>
          <a:noFill/>
          <a:ln w="25400">
            <a:solidFill>
              <a:srgbClr val="B4924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37560" y="28575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300" dirty="0" smtClean="0">
                <a:solidFill>
                  <a:srgbClr val="B49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PROPOSED </a:t>
            </a:r>
            <a:r>
              <a:rPr lang="en-US" sz="2800" b="1" kern="0" spc="300" dirty="0">
                <a:solidFill>
                  <a:srgbClr val="B49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07423" y="891540"/>
            <a:ext cx="936606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2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VIGILIS — Intelligent House System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03020" y="3291840"/>
            <a:ext cx="1005840" cy="1005840"/>
          </a:xfrm>
          <a:prstGeom prst="ellipse">
            <a:avLst/>
          </a:prstGeom>
          <a:solidFill>
            <a:srgbClr val="122A4E"/>
          </a:solidFill>
          <a:ln/>
          <a:effectLst>
            <a:outerShdw blurRad="101600" dist="38100" dir="5400000" algn="bl" rotWithShape="0">
              <a:srgbClr val="0B1830">
                <a:alpha val="28000"/>
              </a:srgbClr>
            </a:outerShdw>
          </a:effectLst>
        </p:spPr>
      </p:sp>
      <p:pic>
        <p:nvPicPr>
          <p:cNvPr id="5" name="Image 0" descr="/home/claude/assets/ey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354330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43484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22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Sense</a:t>
            </a:r>
            <a:endParaRPr lang="en-US" sz="1600" dirty="0"/>
          </a:p>
        </p:txBody>
      </p:sp>
      <p:pic>
        <p:nvPicPr>
          <p:cNvPr id="7" name="Image 1" descr="/home/claude/assets/arrowright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3611880"/>
            <a:ext cx="365760" cy="3657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3771900" y="3291840"/>
            <a:ext cx="1005840" cy="1005840"/>
          </a:xfrm>
          <a:prstGeom prst="ellipse">
            <a:avLst/>
          </a:prstGeom>
          <a:solidFill>
            <a:srgbClr val="122A4E"/>
          </a:solidFill>
          <a:ln/>
          <a:effectLst>
            <a:outerShdw blurRad="101600" dist="38100" dir="5400000" algn="bl" rotWithShape="0">
              <a:srgbClr val="0B1830">
                <a:alpha val="28000"/>
              </a:srgbClr>
            </a:outerShdw>
          </a:effectLst>
        </p:spPr>
      </p:sp>
      <p:pic>
        <p:nvPicPr>
          <p:cNvPr id="9" name="Image 2" descr="/home/claude/assets/brain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543300"/>
            <a:ext cx="502920" cy="50292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3108960" y="443484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22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Analyze</a:t>
            </a:r>
            <a:endParaRPr lang="en-US" sz="1600" dirty="0"/>
          </a:p>
        </p:txBody>
      </p:sp>
      <p:pic>
        <p:nvPicPr>
          <p:cNvPr id="11" name="Image 3" descr="/home/claude/assets/arrowright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0" y="3611880"/>
            <a:ext cx="365760" cy="36576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6240780" y="3291840"/>
            <a:ext cx="1005840" cy="1005840"/>
          </a:xfrm>
          <a:prstGeom prst="ellipse">
            <a:avLst/>
          </a:prstGeom>
          <a:solidFill>
            <a:srgbClr val="122A4E"/>
          </a:solidFill>
          <a:ln/>
          <a:effectLst>
            <a:outerShdw blurRad="101600" dist="38100" dir="5400000" algn="bl" rotWithShape="0">
              <a:srgbClr val="0B1830">
                <a:alpha val="28000"/>
              </a:srgbClr>
            </a:outerShdw>
          </a:effectLst>
        </p:spPr>
      </p:sp>
      <p:pic>
        <p:nvPicPr>
          <p:cNvPr id="13" name="Image 4" descr="/home/claude/assets/gear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0" y="3543300"/>
            <a:ext cx="502920" cy="50292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5577840" y="443484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22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</a:t>
            </a:r>
            <a:endParaRPr lang="en-US" sz="1600" dirty="0"/>
          </a:p>
        </p:txBody>
      </p:sp>
      <p:pic>
        <p:nvPicPr>
          <p:cNvPr id="15" name="Image 5" descr="/home/claude/assets/arrowright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3611880"/>
            <a:ext cx="365760" cy="365760"/>
          </a:xfrm>
          <a:prstGeom prst="rect">
            <a:avLst/>
          </a:prstGeom>
        </p:spPr>
      </p:pic>
      <p:sp>
        <p:nvSpPr>
          <p:cNvPr id="16" name="Shape 8"/>
          <p:cNvSpPr/>
          <p:nvPr/>
        </p:nvSpPr>
        <p:spPr>
          <a:xfrm>
            <a:off x="8709660" y="3291840"/>
            <a:ext cx="1005840" cy="1005840"/>
          </a:xfrm>
          <a:prstGeom prst="ellipse">
            <a:avLst/>
          </a:prstGeom>
          <a:solidFill>
            <a:srgbClr val="122A4E"/>
          </a:solidFill>
          <a:ln/>
          <a:effectLst>
            <a:outerShdw blurRad="101600" dist="38100" dir="5400000" algn="bl" rotWithShape="0">
              <a:srgbClr val="0B1830">
                <a:alpha val="28000"/>
              </a:srgbClr>
            </a:outerShdw>
          </a:effectLst>
        </p:spPr>
      </p:sp>
      <p:pic>
        <p:nvPicPr>
          <p:cNvPr id="17" name="Image 6" descr="/home/claude/assets/bolt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120" y="3543300"/>
            <a:ext cx="502920" cy="502920"/>
          </a:xfrm>
          <a:prstGeom prst="rect">
            <a:avLst/>
          </a:prstGeom>
        </p:spPr>
      </p:pic>
      <p:sp>
        <p:nvSpPr>
          <p:cNvPr id="18" name="Text 9"/>
          <p:cNvSpPr/>
          <p:nvPr/>
        </p:nvSpPr>
        <p:spPr>
          <a:xfrm>
            <a:off x="8046720" y="443484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22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Respond</a:t>
            </a:r>
            <a:endParaRPr lang="en-US" sz="1600" dirty="0"/>
          </a:p>
        </p:txBody>
      </p:sp>
      <p:sp>
        <p:nvSpPr>
          <p:cNvPr id="19" name="Text 10"/>
          <p:cNvSpPr/>
          <p:nvPr/>
        </p:nvSpPr>
        <p:spPr>
          <a:xfrm>
            <a:off x="640080" y="5029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  →  Analyze  →  Decide  →  Respond</a:t>
            </a:r>
            <a:endParaRPr lang="en-US" sz="1300" dirty="0"/>
          </a:p>
        </p:txBody>
      </p:sp>
      <p:sp>
        <p:nvSpPr>
          <p:cNvPr id="20" name="Text 11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122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VIGILIS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B49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2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Functionalities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  <a:effectLst>
            <a:outerShdw blurRad="127000" dist="38100" dir="5400000" algn="bl" rotWithShape="0">
              <a:srgbClr val="0B1830">
                <a:alpha val="12000"/>
              </a:srgbClr>
            </a:outerShdw>
          </a:effectLst>
        </p:spPr>
      </p:sp>
      <p:pic>
        <p:nvPicPr>
          <p:cNvPr id="5" name="Image 0" descr="/home/claude/assets/lightbulb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039112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624328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22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Lighting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914400" y="2990088"/>
            <a:ext cx="2971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ON/OFF and brightness adjustment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40080" y="4064508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  <a:effectLst>
            <a:outerShdw blurRad="127000" dist="38100" dir="5400000" algn="bl" rotWithShape="0">
              <a:srgbClr val="0B183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8321040" y="178308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  <a:effectLst>
            <a:outerShdw blurRad="127000" dist="38100" dir="5400000" algn="bl" rotWithShape="0">
              <a:srgbClr val="0B1830">
                <a:alpha val="12000"/>
              </a:srgbClr>
            </a:outerShdw>
          </a:effectLst>
        </p:spPr>
      </p:sp>
      <p:pic>
        <p:nvPicPr>
          <p:cNvPr id="13" name="Image 2" descr="/home/claude/assets/run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0" y="2039112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595360" y="2624328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22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Detection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8595360" y="2990088"/>
            <a:ext cx="2971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movement through connected sensors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4434840" y="1809206"/>
            <a:ext cx="3520440" cy="1965960"/>
          </a:xfrm>
          <a:prstGeom prst="roundRect">
            <a:avLst>
              <a:gd name="adj" fmla="val 3721"/>
            </a:avLst>
          </a:prstGeom>
          <a:solidFill>
            <a:schemeClr val="bg1"/>
          </a:solidFill>
          <a:ln w="12700">
            <a:solidFill>
              <a:srgbClr val="D9DEE7"/>
            </a:solidFill>
            <a:prstDash val="solid"/>
          </a:ln>
          <a:effectLst>
            <a:outerShdw blurRad="127000" dist="38100" dir="5400000" algn="bl" rotWithShape="0">
              <a:srgbClr val="0B1830">
                <a:alpha val="12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4434840" y="4080837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  <a:effectLst>
            <a:outerShdw blurRad="127000" dist="38100" dir="5400000" algn="bl" rotWithShape="0">
              <a:srgbClr val="0B1830">
                <a:alpha val="12000"/>
              </a:srgbClr>
            </a:outerShdw>
          </a:effectLst>
        </p:spPr>
      </p:sp>
      <p:pic>
        <p:nvPicPr>
          <p:cNvPr id="21" name="Image 4" descr="/home/claude/assets/eye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4279392"/>
            <a:ext cx="457200" cy="4572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4754880" y="4864608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22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Monitoring</a:t>
            </a:r>
            <a:endParaRPr lang="en-US" sz="1350" dirty="0"/>
          </a:p>
        </p:txBody>
      </p:sp>
      <p:sp>
        <p:nvSpPr>
          <p:cNvPr id="23" name="Text 16"/>
          <p:cNvSpPr/>
          <p:nvPr/>
        </p:nvSpPr>
        <p:spPr>
          <a:xfrm>
            <a:off x="4754880" y="5230368"/>
            <a:ext cx="2971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security status, cameras and events</a:t>
            </a:r>
            <a:endParaRPr lang="en-US" sz="1050" dirty="0"/>
          </a:p>
        </p:txBody>
      </p:sp>
      <p:sp>
        <p:nvSpPr>
          <p:cNvPr id="24" name="Shape 17"/>
          <p:cNvSpPr/>
          <p:nvPr/>
        </p:nvSpPr>
        <p:spPr>
          <a:xfrm>
            <a:off x="8321040" y="40233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9DEE7"/>
            </a:solidFill>
            <a:prstDash val="solid"/>
          </a:ln>
          <a:effectLst>
            <a:outerShdw blurRad="127000" dist="38100" dir="5400000" algn="bl" rotWithShape="0">
              <a:srgbClr val="0B1830">
                <a:alpha val="12000"/>
              </a:srgbClr>
            </a:outerShdw>
          </a:effectLst>
        </p:spPr>
      </p:sp>
      <p:pic>
        <p:nvPicPr>
          <p:cNvPr id="25" name="Image 5" descr="/home/claude/assets/bell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5360" y="4279392"/>
            <a:ext cx="457200" cy="45720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8595360" y="4864608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22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Response</a:t>
            </a:r>
            <a:endParaRPr lang="en-US" sz="1350" dirty="0"/>
          </a:p>
        </p:txBody>
      </p:sp>
      <p:sp>
        <p:nvSpPr>
          <p:cNvPr id="27" name="Text 19"/>
          <p:cNvSpPr/>
          <p:nvPr/>
        </p:nvSpPr>
        <p:spPr>
          <a:xfrm>
            <a:off x="8595360" y="5230368"/>
            <a:ext cx="2971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 the appropriate security service when confirmed</a:t>
            </a:r>
            <a:endParaRPr lang="en-US" sz="1050" dirty="0"/>
          </a:p>
        </p:txBody>
      </p:sp>
      <p:sp>
        <p:nvSpPr>
          <p:cNvPr id="28" name="Text 20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122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VIGILIS</a:t>
            </a:r>
            <a:endParaRPr lang="en-US" sz="1050" dirty="0"/>
          </a:p>
        </p:txBody>
      </p:sp>
      <p:pic>
        <p:nvPicPr>
          <p:cNvPr id="30" name="Image 1" descr="/home/claude/assets/face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4880" y="2039112"/>
            <a:ext cx="457200" cy="457200"/>
          </a:xfrm>
          <a:prstGeom prst="rect">
            <a:avLst/>
          </a:prstGeom>
        </p:spPr>
      </p:pic>
      <p:sp>
        <p:nvSpPr>
          <p:cNvPr id="31" name="Text 6"/>
          <p:cNvSpPr/>
          <p:nvPr/>
        </p:nvSpPr>
        <p:spPr>
          <a:xfrm>
            <a:off x="4754880" y="2624328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22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Facial Recognition</a:t>
            </a:r>
            <a:endParaRPr lang="en-US" sz="1350" dirty="0"/>
          </a:p>
        </p:txBody>
      </p:sp>
      <p:sp>
        <p:nvSpPr>
          <p:cNvPr id="32" name="Text 7"/>
          <p:cNvSpPr/>
          <p:nvPr/>
        </p:nvSpPr>
        <p:spPr>
          <a:xfrm>
            <a:off x="4754880" y="2990088"/>
            <a:ext cx="2971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or verify authorized persons</a:t>
            </a:r>
            <a:endParaRPr lang="en-US" sz="1050" dirty="0"/>
          </a:p>
        </p:txBody>
      </p:sp>
      <p:pic>
        <p:nvPicPr>
          <p:cNvPr id="33" name="Image 3" descr="/home/claude/assets/brain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" y="4279392"/>
            <a:ext cx="457200" cy="457200"/>
          </a:xfrm>
          <a:prstGeom prst="rect">
            <a:avLst/>
          </a:prstGeom>
        </p:spPr>
      </p:pic>
      <p:sp>
        <p:nvSpPr>
          <p:cNvPr id="34" name="Text 12"/>
          <p:cNvSpPr/>
          <p:nvPr/>
        </p:nvSpPr>
        <p:spPr>
          <a:xfrm>
            <a:off x="914400" y="4864608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22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Threat Analysis</a:t>
            </a:r>
            <a:endParaRPr lang="en-US" sz="1350" dirty="0"/>
          </a:p>
        </p:txBody>
      </p:sp>
      <p:sp>
        <p:nvSpPr>
          <p:cNvPr id="35" name="Text 13"/>
          <p:cNvSpPr/>
          <p:nvPr/>
        </p:nvSpPr>
        <p:spPr>
          <a:xfrm>
            <a:off x="914400" y="5230368"/>
            <a:ext cx="2971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events and identify genuine threats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628" y="1842005"/>
            <a:ext cx="5773783" cy="4829849"/>
          </a:xfrm>
          <a:prstGeom prst="rect">
            <a:avLst/>
          </a:prstGeom>
        </p:spPr>
      </p:pic>
      <p:pic>
        <p:nvPicPr>
          <p:cNvPr id="3" name="Immagine 49" descr="Immagine che contiene testo, Carattere, logo, schermata&#10;&#10;Il contenuto generato dall'IA potrebbe non essere corretto.">
            <a:extLst>
              <a:ext uri="{FF2B5EF4-FFF2-40B4-BE49-F238E27FC236}">
                <a16:creationId xmlns:a16="http://schemas.microsoft.com/office/drawing/2014/main" id="{4A327153-4A64-BEFB-A04C-DF5FCEB8A0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9076" y="1528354"/>
            <a:ext cx="3977639" cy="5143500"/>
          </a:xfrm>
          <a:prstGeom prst="rect">
            <a:avLst/>
          </a:prstGeom>
        </p:spPr>
      </p:pic>
      <p:sp>
        <p:nvSpPr>
          <p:cNvPr id="4" name="ZoneTexte 3"/>
          <p:cNvSpPr txBox="1"/>
          <p:nvPr/>
        </p:nvSpPr>
        <p:spPr>
          <a:xfrm>
            <a:off x="5538652" y="3161211"/>
            <a:ext cx="70539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800" dirty="0" smtClean="0"/>
              <a:t>+</a:t>
            </a:r>
            <a:endParaRPr lang="fr-FR" sz="8800" dirty="0"/>
          </a:p>
        </p:txBody>
      </p:sp>
      <p:sp>
        <p:nvSpPr>
          <p:cNvPr id="5" name="ZoneTexte 4"/>
          <p:cNvSpPr txBox="1"/>
          <p:nvPr/>
        </p:nvSpPr>
        <p:spPr>
          <a:xfrm>
            <a:off x="4023360" y="450787"/>
            <a:ext cx="367066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kern="0" spc="300" dirty="0" smtClean="0">
                <a:solidFill>
                  <a:srgbClr val="B49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</a:t>
            </a:r>
            <a:r>
              <a:rPr lang="en-US" sz="2400" b="1" kern="0" spc="300" dirty="0">
                <a:solidFill>
                  <a:srgbClr val="B49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fr-FR" sz="2400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668569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67630" y="1436914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 smtClean="0">
                <a:solidFill>
                  <a:srgbClr val="B49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 &amp;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657" y="1756954"/>
            <a:ext cx="3461657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2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General Use Case</a:t>
            </a:r>
            <a:endParaRPr lang="en-US" sz="3200" dirty="0"/>
          </a:p>
        </p:txBody>
      </p:sp>
      <p:sp>
        <p:nvSpPr>
          <p:cNvPr id="29" name="Text 22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122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VIGILIS</a:t>
            </a:r>
            <a:endParaRPr lang="en-US" sz="1050" dirty="0"/>
          </a:p>
        </p:txBody>
      </p:sp>
      <p:pic>
        <p:nvPicPr>
          <p:cNvPr id="31" name="Image 30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822" t="20345" r="822" b="21811"/>
          <a:stretch/>
        </p:blipFill>
        <p:spPr>
          <a:xfrm>
            <a:off x="3661349" y="143691"/>
            <a:ext cx="6501554" cy="653142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860"/>
            <a:ext cx="12191695" cy="1234440"/>
          </a:xfrm>
          <a:prstGeom prst="rect">
            <a:avLst/>
          </a:prstGeom>
          <a:solidFill>
            <a:srgbClr val="122A4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5603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B49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 &amp; ARCHITECTURE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530352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 smtClean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Sequence </a:t>
            </a: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Diagram</a:t>
            </a:r>
            <a:endParaRPr lang="en-US" sz="2800" dirty="0"/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79" y="1399033"/>
            <a:ext cx="10502537" cy="545896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50223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B49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4" name="Text 26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122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VIGILIS</a:t>
            </a:r>
            <a:endParaRPr lang="en-US" sz="1050" dirty="0"/>
          </a:p>
        </p:txBody>
      </p:sp>
      <p:pic>
        <p:nvPicPr>
          <p:cNvPr id="13" name="Imag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509" y="664028"/>
            <a:ext cx="11560628" cy="554300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3825" y="20129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B49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48887" y="156417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2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Logical Architecture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73825" y="8412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 smtClean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MVVM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122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VIGILIS</a:t>
            </a:r>
            <a:endParaRPr lang="en-US" sz="1050" dirty="0"/>
          </a:p>
        </p:txBody>
      </p:sp>
      <p:pic>
        <p:nvPicPr>
          <p:cNvPr id="31" name="Image 3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79" y="1115665"/>
            <a:ext cx="10933611" cy="505095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B49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601200" cy="6633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2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Physical Architecture</a:t>
            </a:r>
            <a:endParaRPr lang="en-US" sz="3200" dirty="0"/>
          </a:p>
        </p:txBody>
      </p:sp>
      <p:sp>
        <p:nvSpPr>
          <p:cNvPr id="39" name="Shape 30"/>
          <p:cNvSpPr/>
          <p:nvPr/>
        </p:nvSpPr>
        <p:spPr>
          <a:xfrm>
            <a:off x="640080" y="6035040"/>
            <a:ext cx="10881360" cy="502920"/>
          </a:xfrm>
          <a:prstGeom prst="roundRect">
            <a:avLst>
              <a:gd name="adj" fmla="val 14545"/>
            </a:avLst>
          </a:prstGeom>
          <a:solidFill>
            <a:srgbClr val="122A4E"/>
          </a:solidFill>
          <a:ln w="12700">
            <a:solidFill>
              <a:srgbClr val="D9DEE7"/>
            </a:solidFill>
            <a:prstDash val="solid"/>
          </a:ln>
        </p:spPr>
      </p:sp>
      <p:sp>
        <p:nvSpPr>
          <p:cNvPr id="40" name="Text 31"/>
          <p:cNvSpPr/>
          <p:nvPr/>
        </p:nvSpPr>
        <p:spPr>
          <a:xfrm>
            <a:off x="822960" y="60350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house is isolated by house ID / authorization rules to prevent cross-house device access.</a:t>
            </a:r>
            <a:endParaRPr lang="en-US" sz="1050" dirty="0"/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1413164"/>
            <a:ext cx="10386060" cy="423949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1090366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6000" dirty="0"/>
          </a:p>
        </p:txBody>
      </p:sp>
      <p:sp>
        <p:nvSpPr>
          <p:cNvPr id="28" name="Rectangle 27"/>
          <p:cNvSpPr/>
          <p:nvPr/>
        </p:nvSpPr>
        <p:spPr>
          <a:xfrm>
            <a:off x="2076994" y="2780467"/>
            <a:ext cx="11018828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5400" b="1" kern="0" spc="300" dirty="0">
                <a:solidFill>
                  <a:srgbClr val="B49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DEMONSTRATION</a:t>
            </a:r>
            <a:endParaRPr lang="en-US" sz="5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22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1F4068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4754880"/>
            <a:ext cx="3291840" cy="3291840"/>
          </a:xfrm>
          <a:prstGeom prst="ellipse">
            <a:avLst/>
          </a:prstGeom>
          <a:solidFill>
            <a:srgbClr val="1F4068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685800"/>
            <a:ext cx="696250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300" dirty="0">
                <a:solidFill>
                  <a:srgbClr val="B49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— CONCLUSION &amp; PERSPECTIVES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22960" y="1280160"/>
            <a:ext cx="5316583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house that senses.</a:t>
            </a:r>
            <a:endParaRPr lang="en-US" sz="3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system that understands.</a:t>
            </a:r>
            <a:endParaRPr lang="en-US" sz="3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response that acts.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68680" y="3657600"/>
            <a:ext cx="1463040" cy="0"/>
          </a:xfrm>
          <a:prstGeom prst="line">
            <a:avLst/>
          </a:prstGeom>
          <a:noFill/>
          <a:ln w="25400">
            <a:solidFill>
              <a:srgbClr val="B4924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886200"/>
            <a:ext cx="7485017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C7D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VIGILIS brings together IoT, AI, smart lighting, secure access and emergency response to create a safer, smarter and more responsive home.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6126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B492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VIGILIS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773</TotalTime>
  <Words>640</Words>
  <Application>Microsoft Office PowerPoint</Application>
  <PresentationFormat>Grand écran</PresentationFormat>
  <Paragraphs>142</Paragraphs>
  <Slides>19</Slides>
  <Notes>16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19</vt:i4>
      </vt:variant>
    </vt:vector>
  </HeadingPairs>
  <TitlesOfParts>
    <vt:vector size="25" baseType="lpstr">
      <vt:lpstr>Arial</vt:lpstr>
      <vt:lpstr>Calibri</vt:lpstr>
      <vt:lpstr>Cambria</vt:lpstr>
      <vt:lpstr>DengXian</vt:lpstr>
      <vt:lpstr>Times New Roman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THERESE</cp:lastModifiedBy>
  <cp:revision>46</cp:revision>
  <dcterms:created xsi:type="dcterms:W3CDTF">2026-08-27T09:39:41Z</dcterms:created>
  <dcterms:modified xsi:type="dcterms:W3CDTF">2026-09-02T11:22:09Z</dcterms:modified>
</cp:coreProperties>
</file>