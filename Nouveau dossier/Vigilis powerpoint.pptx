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5" r:id="rId6"/>
    <p:sldId id="276" r:id="rId7"/>
    <p:sldId id="260" r:id="rId8"/>
    <p:sldId id="261" r:id="rId9"/>
    <p:sldId id="263" r:id="rId10"/>
    <p:sldId id="264" r:id="rId11"/>
    <p:sldId id="265" r:id="rId12"/>
    <p:sldId id="274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10"/>
  </p:normalViewPr>
  <p:slideViewPr>
    <p:cSldViewPr snapToGrid="0" snapToObjects="1">
      <p:cViewPr varScale="1">
        <p:scale>
          <a:sx n="41" d="100"/>
          <a:sy n="41" d="100"/>
        </p:scale>
        <p:origin x="9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96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our exceptional</a:t>
            </a:r>
            <a:r>
              <a:rPr lang="en-US" baseline="0" dirty="0" smtClean="0"/>
              <a:t> presentation our plan of work will be as follows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Only the company presentation and the theme.</a:t>
            </a:r>
            <a:r>
              <a:rPr lang="en-US" baseline="0" dirty="0" smtClean="0"/>
              <a:t> It talks mainly the existing system, and it is done by the survey. For this special we carried out a survey to carry out a survey</a:t>
            </a:r>
          </a:p>
          <a:p>
            <a:r>
              <a:rPr lang="en-US" baseline="0" dirty="0" smtClean="0"/>
              <a:t>We carried out a survey to gather more statistics. We took pertinent questions to put you in the context. The first question was “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security methods do you currently use?”,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then the next pertinent question was “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“Let me start with something personal.</a:t>
            </a:r>
            <a:endParaRPr lang="en-US" dirty="0" smtClean="0"/>
          </a:p>
          <a:p>
            <a:r>
              <a:rPr lang="en-US" dirty="0" smtClean="0"/>
              <a:t>At one point, my computer was stolen.</a:t>
            </a:r>
          </a:p>
          <a:p>
            <a:r>
              <a:rPr lang="en-US" dirty="0" smtClean="0"/>
              <a:t>For some people, it may sound like just a computer. But for a student, that computer can contain months or even years of work, projects, documents, memories, and opportunities.</a:t>
            </a:r>
          </a:p>
          <a:p>
            <a:r>
              <a:rPr lang="en-US" dirty="0" smtClean="0"/>
              <a:t>And the hardest feeling is not only losing the object.</a:t>
            </a:r>
          </a:p>
          <a:p>
            <a:r>
              <a:rPr lang="en-US" b="1" dirty="0" smtClean="0"/>
              <a:t>It is realizing that you had no way to know what was happening until it was already too late.</a:t>
            </a:r>
            <a:endParaRPr lang="en-US" dirty="0" smtClean="0"/>
          </a:p>
          <a:p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“For example, imagine someone leaves a light on every night in an empty room. One night may not seem like much, but repeated every day, that wasted electricity increases the bill. For a family already struggling financially, even that small waste can become a real burden.”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This brings us to</a:t>
            </a:r>
            <a:r>
              <a:rPr lang="en-US" baseline="0" dirty="0" smtClean="0"/>
              <a:t> the three problems we decided to solve SECURITY, ACCESS, AND ENERGY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solve this</a:t>
            </a:r>
            <a:r>
              <a:rPr lang="en-US" baseline="0" dirty="0" smtClean="0"/>
              <a:t> problem we came up with VIGILIS intelligent house system. </a:t>
            </a:r>
            <a:r>
              <a:rPr lang="en-US" baseline="0" dirty="0" err="1" smtClean="0"/>
              <a:t>Vigilis</a:t>
            </a:r>
            <a:r>
              <a:rPr lang="en-US" baseline="0" dirty="0" smtClean="0"/>
              <a:t> functions in four main steps,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F406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331720"/>
            <a:ext cx="2103120" cy="2103120"/>
          </a:xfrm>
          <a:prstGeom prst="ellipse">
            <a:avLst/>
          </a:prstGeom>
          <a:solidFill>
            <a:srgbClr val="2E4E7C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3017520"/>
            <a:ext cx="731520" cy="73152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5" name="Image 0" descr="/home/claude/assets/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00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386660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 smtClean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</a:t>
            </a:r>
            <a:r>
              <a:rPr lang="en-US" sz="13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the Presentation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Our Project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68680" y="4297680"/>
            <a:ext cx="1463040" cy="0"/>
          </a:xfrm>
          <a:prstGeom prst="line">
            <a:avLst/>
          </a:prstGeom>
          <a:noFill/>
          <a:ln w="25400">
            <a:solidFill>
              <a:srgbClr val="B492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4348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House System for Smart Lighting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AI-Powered Security Monitoring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4E"/>
          </a:solidFill>
          <a:ln/>
        </p:spPr>
      </p:sp>
      <p:sp>
        <p:nvSpPr>
          <p:cNvPr id="16" name="Shape 12"/>
          <p:cNvSpPr/>
          <p:nvPr/>
        </p:nvSpPr>
        <p:spPr>
          <a:xfrm>
            <a:off x="0" y="5989320"/>
            <a:ext cx="12191695" cy="548640"/>
          </a:xfrm>
          <a:prstGeom prst="rect">
            <a:avLst/>
          </a:prstGeom>
          <a:solidFill>
            <a:srgbClr val="122A4E"/>
          </a:solidFill>
          <a:ln/>
        </p:spPr>
      </p:sp>
      <p:sp>
        <p:nvSpPr>
          <p:cNvPr id="17" name="Text 13"/>
          <p:cNvSpPr/>
          <p:nvPr/>
        </p:nvSpPr>
        <p:spPr>
          <a:xfrm>
            <a:off x="0" y="59893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</a:t>
            </a:r>
            <a:endParaRPr lang="en-US" sz="1200" dirty="0"/>
          </a:p>
        </p:txBody>
      </p:sp>
      <p:pic>
        <p:nvPicPr>
          <p:cNvPr id="19" name="Picture 6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381" y="682780"/>
            <a:ext cx="1397726" cy="455360"/>
          </a:xfrm>
          <a:prstGeom prst="rect">
            <a:avLst/>
          </a:prstGeom>
        </p:spPr>
      </p:pic>
      <p:sp>
        <p:nvSpPr>
          <p:cNvPr id="23" name="ZoneTexte 5">
            <a:extLst>
              <a:ext uri="{FF2B5EF4-FFF2-40B4-BE49-F238E27FC236}">
                <a16:creationId xmlns:a16="http://schemas.microsoft.com/office/drawing/2014/main" id="{BD370DAD-1BBD-6861-E72B-69F6714C6975}"/>
              </a:ext>
            </a:extLst>
          </p:cNvPr>
          <p:cNvSpPr txBox="1"/>
          <p:nvPr/>
        </p:nvSpPr>
        <p:spPr>
          <a:xfrm>
            <a:off x="282345" y="238513"/>
            <a:ext cx="2698750" cy="226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70"/>
              </a:spcBef>
              <a:spcAft>
                <a:spcPts val="70"/>
              </a:spcAft>
            </a:pPr>
            <a:r>
              <a:rPr lang="fr-FR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REPUBLIC OF CAMEROUN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70"/>
              </a:spcBef>
              <a:spcAft>
                <a:spcPts val="70"/>
              </a:spcAft>
            </a:pPr>
            <a:r>
              <a:rPr lang="fr-FR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Paix-Travail-Patrie</a:t>
            </a:r>
          </a:p>
          <a:p>
            <a:pPr algn="ctr">
              <a:spcBef>
                <a:spcPts val="70"/>
              </a:spcBef>
              <a:spcAft>
                <a:spcPts val="70"/>
              </a:spcAft>
            </a:pP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70"/>
              </a:spcBef>
              <a:spcAft>
                <a:spcPts val="70"/>
              </a:spcAft>
            </a:pPr>
            <a:endParaRPr lang="en-US" sz="11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endParaRPr lang="en-US" sz="1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50"/>
              </a:spcBef>
              <a:spcAft>
                <a:spcPts val="5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AFRICAN INSTITUT OF COMPUTER SCIENCES PAUL BIYA UNNIVERSITY CENTER OF EXCE</a:t>
            </a:r>
            <a:r>
              <a:rPr lang="en-GB" sz="1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LLENCE YAOUNDE </a:t>
            </a:r>
            <a:endParaRPr lang="en-US" sz="1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50"/>
              </a:spcBef>
              <a:spcAft>
                <a:spcPts val="50"/>
              </a:spcAft>
            </a:pPr>
            <a:r>
              <a:rPr lang="en-GB" sz="1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Tel: (237) 22 72 99 57 </a:t>
            </a:r>
            <a:endParaRPr lang="en-US" sz="1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50"/>
              </a:spcBef>
              <a:spcAft>
                <a:spcPts val="50"/>
              </a:spcAft>
            </a:pPr>
            <a:r>
              <a:rPr lang="en-GB" sz="1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Site Web: www.iaicameroun.com</a:t>
            </a:r>
            <a:endParaRPr lang="en-US" sz="1100" kern="100" dirty="0">
              <a:solidFill>
                <a:srgbClr val="0800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900" dirty="0"/>
          </a:p>
        </p:txBody>
      </p:sp>
      <p:pic>
        <p:nvPicPr>
          <p:cNvPr id="24" name="Image 6">
            <a:extLst>
              <a:ext uri="{FF2B5EF4-FFF2-40B4-BE49-F238E27FC236}">
                <a16:creationId xmlns:a16="http://schemas.microsoft.com/office/drawing/2014/main" id="{3ABDF0D5-0FB8-5822-49AB-31F4B497EE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97" y="636457"/>
            <a:ext cx="741045" cy="548005"/>
          </a:xfrm>
          <a:prstGeom prst="rect">
            <a:avLst/>
          </a:prstGeom>
        </p:spPr>
      </p:pic>
      <p:sp>
        <p:nvSpPr>
          <p:cNvPr id="25" name="ZoneTexte 8">
            <a:extLst>
              <a:ext uri="{FF2B5EF4-FFF2-40B4-BE49-F238E27FC236}">
                <a16:creationId xmlns:a16="http://schemas.microsoft.com/office/drawing/2014/main" id="{B84BFCCB-93E7-E6E1-47A5-C3C9640740DD}"/>
              </a:ext>
            </a:extLst>
          </p:cNvPr>
          <p:cNvSpPr txBox="1"/>
          <p:nvPr/>
        </p:nvSpPr>
        <p:spPr>
          <a:xfrm>
            <a:off x="9575075" y="268893"/>
            <a:ext cx="2364059" cy="99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70"/>
              </a:spcBef>
              <a:spcAft>
                <a:spcPts val="70"/>
              </a:spcAft>
            </a:pPr>
            <a:r>
              <a:rPr lang="fr-FR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REPUBLIC OFCAMEROON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70"/>
              </a:spcBef>
              <a:spcAft>
                <a:spcPts val="70"/>
              </a:spcAft>
            </a:pPr>
            <a:r>
              <a:rPr lang="fr-FR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Paix-Travail-Patrie</a:t>
            </a:r>
          </a:p>
          <a:p>
            <a:pPr algn="ctr">
              <a:spcBef>
                <a:spcPts val="70"/>
              </a:spcBef>
              <a:spcAft>
                <a:spcPts val="70"/>
              </a:spcAft>
            </a:pPr>
            <a:endParaRPr lang="fr-FR" sz="1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70"/>
              </a:spcBef>
              <a:spcAft>
                <a:spcPts val="70"/>
              </a:spcAft>
            </a:pPr>
            <a:endParaRPr lang="fr-FR" sz="1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70"/>
              </a:spcBef>
              <a:spcAft>
                <a:spcPts val="70"/>
              </a:spcAft>
            </a:pPr>
            <a:endParaRPr lang="en-US" sz="10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 : coins arrondis 7">
            <a:extLst>
              <a:ext uri="{FF2B5EF4-FFF2-40B4-BE49-F238E27FC236}">
                <a16:creationId xmlns:a16="http://schemas.microsoft.com/office/drawing/2014/main" id="{E69BBC83-4C00-87DB-6338-E0EF921646DD}"/>
              </a:ext>
            </a:extLst>
          </p:cNvPr>
          <p:cNvSpPr/>
          <p:nvPr/>
        </p:nvSpPr>
        <p:spPr>
          <a:xfrm>
            <a:off x="3893083" y="1938966"/>
            <a:ext cx="4728052" cy="300087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</p:txBody>
      </p:sp>
      <p:sp>
        <p:nvSpPr>
          <p:cNvPr id="27" name="ZoneTexte 11">
            <a:extLst>
              <a:ext uri="{FF2B5EF4-FFF2-40B4-BE49-F238E27FC236}">
                <a16:creationId xmlns:a16="http://schemas.microsoft.com/office/drawing/2014/main" id="{5A5B764D-81C4-0B9C-1F98-91BBCECE4886}"/>
              </a:ext>
            </a:extLst>
          </p:cNvPr>
          <p:cNvSpPr txBox="1"/>
          <p:nvPr/>
        </p:nvSpPr>
        <p:spPr>
          <a:xfrm>
            <a:off x="2259875" y="3635488"/>
            <a:ext cx="7315200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80"/>
              </a:spcBef>
              <a:spcAft>
                <a:spcPts val="80"/>
              </a:spcAft>
            </a:pPr>
            <a:r>
              <a:rPr lang="en-US" sz="1600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End of Year</a:t>
            </a:r>
            <a:r>
              <a:rPr lang="en-US" sz="1600" dirty="0" smtClean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Project</a:t>
            </a:r>
          </a:p>
          <a:p>
            <a:pPr marL="0" marR="0" algn="ctr">
              <a:spcBef>
                <a:spcPts val="80"/>
              </a:spcBef>
              <a:spcAft>
                <a:spcPts val="8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In view of obtaining a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Higher Technician Diploma (HTD)</a:t>
            </a:r>
            <a:r>
              <a:rPr lang="en-US" sz="16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in Computer Sciences.</a:t>
            </a:r>
          </a:p>
          <a:p>
            <a:pPr marL="0" marR="0" algn="ctr">
              <a:spcBef>
                <a:spcPts val="80"/>
              </a:spcBef>
              <a:spcAft>
                <a:spcPts val="8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Option: Software Engineering </a:t>
            </a:r>
          </a:p>
          <a:p>
            <a:pPr marL="0" marR="0" algn="ctr">
              <a:spcBef>
                <a:spcPts val="80"/>
              </a:spcBef>
              <a:spcAft>
                <a:spcPts val="8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Presented By: </a:t>
            </a:r>
            <a:endParaRPr lang="en-US" sz="16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spcBef>
                <a:spcPts val="80"/>
              </a:spcBef>
              <a:spcAft>
                <a:spcPts val="80"/>
              </a:spcAft>
            </a:pPr>
            <a:r>
              <a:rPr lang="en-US" sz="1600" b="1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YOGO JEAN ARIEL LEPRECIEUX</a:t>
            </a:r>
            <a:endParaRPr lang="en-US" sz="16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ZoneTexte 13">
            <a:extLst>
              <a:ext uri="{FF2B5EF4-FFF2-40B4-BE49-F238E27FC236}">
                <a16:creationId xmlns:a16="http://schemas.microsoft.com/office/drawing/2014/main" id="{66E5E642-5A6C-0FB9-26B0-CE98DD0135F1}"/>
              </a:ext>
            </a:extLst>
          </p:cNvPr>
          <p:cNvSpPr txBox="1"/>
          <p:nvPr/>
        </p:nvSpPr>
        <p:spPr>
          <a:xfrm>
            <a:off x="92013" y="4746767"/>
            <a:ext cx="2016579" cy="871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Academic Supervisor</a:t>
            </a:r>
          </a:p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Mr. </a:t>
            </a:r>
            <a:r>
              <a:rPr lang="en-US" sz="1400" b="1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TCHOUA</a:t>
            </a:r>
            <a:endParaRPr lang="en-US" sz="14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Lecturer at AICS</a:t>
            </a:r>
            <a:endParaRPr lang="en-US" sz="1400" kern="100" dirty="0">
              <a:solidFill>
                <a:srgbClr val="0800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Rectangle : coins arrondis 6">
            <a:extLst>
              <a:ext uri="{FF2B5EF4-FFF2-40B4-BE49-F238E27FC236}">
                <a16:creationId xmlns:a16="http://schemas.microsoft.com/office/drawing/2014/main" id="{B06DB76A-BA21-E3FD-E729-2577A1DB46E4}"/>
              </a:ext>
            </a:extLst>
          </p:cNvPr>
          <p:cNvSpPr/>
          <p:nvPr/>
        </p:nvSpPr>
        <p:spPr>
          <a:xfrm>
            <a:off x="2195747" y="2327565"/>
            <a:ext cx="7739829" cy="121152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THEME:</a:t>
            </a:r>
            <a:endParaRPr lang="fr-F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dirty="0" smtClean="0"/>
              <a:t>Design </a:t>
            </a:r>
            <a:r>
              <a:rPr lang="fr-FR" sz="2400" b="1" dirty="0"/>
              <a:t>and </a:t>
            </a:r>
            <a:r>
              <a:rPr lang="fr-FR" sz="2400" b="1" dirty="0" err="1"/>
              <a:t>Implementation</a:t>
            </a:r>
            <a:r>
              <a:rPr lang="fr-FR" sz="2400" b="1" dirty="0"/>
              <a:t> of an Intelligent House System </a:t>
            </a:r>
            <a:r>
              <a:rPr lang="fr-FR" sz="2400" b="1" dirty="0" err="1"/>
              <a:t>Based</a:t>
            </a:r>
            <a:r>
              <a:rPr lang="fr-FR" sz="2400" b="1" dirty="0"/>
              <a:t> on Light </a:t>
            </a:r>
            <a:r>
              <a:rPr lang="fr-FR" sz="2400" b="1" dirty="0" err="1"/>
              <a:t>Intensity</a:t>
            </a:r>
            <a:r>
              <a:rPr lang="fr-FR" sz="2400" b="1" dirty="0"/>
              <a:t> Control and Security Monitoring</a:t>
            </a:r>
            <a:r>
              <a:rPr lang="fr-FR" sz="2400" b="1" dirty="0" smtClean="0"/>
              <a:t>.</a:t>
            </a:r>
            <a:endParaRPr lang="it-CM" sz="2400" dirty="0"/>
          </a:p>
          <a:p>
            <a:pPr algn="ctr"/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ZoneTexte 14">
            <a:extLst>
              <a:ext uri="{FF2B5EF4-FFF2-40B4-BE49-F238E27FC236}">
                <a16:creationId xmlns:a16="http://schemas.microsoft.com/office/drawing/2014/main" id="{DE2CB3BE-1782-95B9-58CB-26228F5174C6}"/>
              </a:ext>
            </a:extLst>
          </p:cNvPr>
          <p:cNvSpPr txBox="1"/>
          <p:nvPr/>
        </p:nvSpPr>
        <p:spPr>
          <a:xfrm>
            <a:off x="9471727" y="4746767"/>
            <a:ext cx="2138511" cy="886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Professional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Supervisor</a:t>
            </a:r>
          </a:p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b="1" dirty="0" err="1" smtClean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Mr</a:t>
            </a:r>
            <a:r>
              <a:rPr lang="en-US" sz="14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Bangoup</a:t>
            </a:r>
            <a:r>
              <a:rPr lang="en-US" sz="1400" b="1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Ruphin</a:t>
            </a:r>
            <a:r>
              <a:rPr lang="en-US" sz="1400" b="1" dirty="0" smtClean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CEO OF INTERLINK</a:t>
            </a:r>
            <a:endParaRPr lang="en-US" sz="14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965960" y="210312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82880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05740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7498080" y="210312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182880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Problematic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7947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1965960" y="384048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356616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56616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7947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7498080" y="384048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356616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/>
              <a:t>Methodology</a:t>
            </a:r>
            <a:endParaRPr lang="en-US" sz="1600" b="1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53212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1965960" y="557784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530352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530352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553212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7498080" y="557784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530352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E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2926080"/>
            <a:ext cx="1188720" cy="1188720"/>
          </a:xfrm>
          <a:prstGeom prst="ellipse">
            <a:avLst/>
          </a:prstGeom>
          <a:solidFill>
            <a:srgbClr val="1F4068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670166" y="2910840"/>
            <a:ext cx="6123708" cy="1175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pic>
        <p:nvPicPr>
          <p:cNvPr id="9" name="Image 0" descr="/home/claude/assets/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3315788"/>
            <a:ext cx="365760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7348"/>
            <a:ext cx="11055927" cy="635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59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831272"/>
            <a:ext cx="10390909" cy="536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4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1F4068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3108960" cy="3108960"/>
          </a:xfrm>
          <a:prstGeom prst="ellipse">
            <a:avLst/>
          </a:prstGeom>
          <a:solidFill>
            <a:srgbClr val="1F406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9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689718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PROBLEMATIC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68680" y="3794760"/>
            <a:ext cx="1463040" cy="0"/>
          </a:xfrm>
          <a:prstGeom prst="line">
            <a:avLst/>
          </a:prstGeom>
          <a:noFill/>
          <a:ln w="25400">
            <a:solidFill>
              <a:srgbClr val="B4924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40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Today's Homes Fall Short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6" name="Image 0" descr="/home/claude/asset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23660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4747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verification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8745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2194560"/>
            <a:ext cx="685800" cy="68580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11" name="Image 1" descr="/home/claude/asset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23660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00600" y="34747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lighting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consumption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brightness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8745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194560"/>
            <a:ext cx="685800" cy="68580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16" name="Image 2" descr="/home/claude/assets/wifi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2530" y="23660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41080" y="34747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devices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remote control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730088" y="141732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4" name="Image 0" descr="/home/claude/asset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14600"/>
            <a:ext cx="926287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residential environment improve security, lighting efficiency and emergency </a:t>
            </a:r>
            <a:r>
              <a:rPr lang="en-US" sz="2400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using AI and </a:t>
            </a:r>
            <a:r>
              <a:rPr lang="en-US" sz="2400" i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</a:t>
            </a:r>
            <a:r>
              <a:rPr lang="en-US" sz="2400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devices 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364328" y="5577840"/>
            <a:ext cx="1463040" cy="0"/>
          </a:xfrm>
          <a:prstGeom prst="line">
            <a:avLst/>
          </a:prstGeom>
          <a:noFill/>
          <a:ln w="25400">
            <a:solidFill>
              <a:srgbClr val="B4924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28575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 smtClean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PROPOSED </a:t>
            </a:r>
            <a:r>
              <a:rPr lang="en-US" sz="28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7423" y="891540"/>
            <a:ext cx="9366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 — Intelligent House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03020" y="3291840"/>
            <a:ext cx="1005840" cy="100584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5" name="Image 0" descr="/home/claude/asset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5433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600" dirty="0"/>
          </a:p>
        </p:txBody>
      </p:sp>
      <p:pic>
        <p:nvPicPr>
          <p:cNvPr id="7" name="Image 1" descr="/home/claude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611880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771900" y="3291840"/>
            <a:ext cx="1005840" cy="100584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9" name="Image 2" descr="/home/claude/asset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54330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0896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pic>
        <p:nvPicPr>
          <p:cNvPr id="11" name="Image 3" descr="/home/claude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611880"/>
            <a:ext cx="365760" cy="3657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240780" y="3291840"/>
            <a:ext cx="1005840" cy="100584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13" name="Image 4" descr="/home/claude/assets/ge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543300"/>
            <a:ext cx="502920" cy="5029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7784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600" dirty="0"/>
          </a:p>
        </p:txBody>
      </p:sp>
      <p:pic>
        <p:nvPicPr>
          <p:cNvPr id="15" name="Image 5" descr="/home/claude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611880"/>
            <a:ext cx="365760" cy="36576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8709660" y="3291840"/>
            <a:ext cx="1005840" cy="100584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17" name="Image 6" descr="/home/claude/asset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543300"/>
            <a:ext cx="502920" cy="5029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04672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64008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 →  Analyze  →  Decide  →  Respond</a:t>
            </a:r>
            <a:endParaRPr lang="en-US" sz="1300" dirty="0"/>
          </a:p>
        </p:txBody>
      </p:sp>
      <p:sp>
        <p:nvSpPr>
          <p:cNvPr id="20" name="Text 1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Functionalities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pic>
        <p:nvPicPr>
          <p:cNvPr id="5" name="Image 0" descr="/home/claude/assets/lightbul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391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2432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Lighting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299008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ON/OFF and brightness adjustment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406450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32104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pic>
        <p:nvPicPr>
          <p:cNvPr id="13" name="Image 2" descr="/home/claude/assets/ru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03911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95360" y="262432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595360" y="299008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movement through connected sensors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434840" y="1809206"/>
            <a:ext cx="352044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434840" y="4080837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pic>
        <p:nvPicPr>
          <p:cNvPr id="21" name="Image 4" descr="/home/claude/assets/ey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7939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54880" y="48646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754880" y="5230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security status, cameras and events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32104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pic>
        <p:nvPicPr>
          <p:cNvPr id="25" name="Image 5" descr="/home/claude/assets/bell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27939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95360" y="48646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595360" y="5230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appropriate security service when confirmed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pic>
        <p:nvPicPr>
          <p:cNvPr id="30" name="Image 1" descr="/home/claude/assets/fac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039112"/>
            <a:ext cx="457200" cy="457200"/>
          </a:xfrm>
          <a:prstGeom prst="rect">
            <a:avLst/>
          </a:prstGeom>
        </p:spPr>
      </p:pic>
      <p:sp>
        <p:nvSpPr>
          <p:cNvPr id="31" name="Text 6"/>
          <p:cNvSpPr/>
          <p:nvPr/>
        </p:nvSpPr>
        <p:spPr>
          <a:xfrm>
            <a:off x="4754880" y="262432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4754880" y="299008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or verify authorized persons</a:t>
            </a:r>
            <a:endParaRPr lang="en-US" sz="1050" dirty="0"/>
          </a:p>
        </p:txBody>
      </p:sp>
      <p:pic>
        <p:nvPicPr>
          <p:cNvPr id="33" name="Image 3" descr="/home/claude/assets/brain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79392"/>
            <a:ext cx="457200" cy="457200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914400" y="48646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Analysis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914400" y="5230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events and identify genuine threats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8" y="1842005"/>
            <a:ext cx="5773783" cy="4829849"/>
          </a:xfrm>
          <a:prstGeom prst="rect">
            <a:avLst/>
          </a:prstGeom>
        </p:spPr>
      </p:pic>
      <p:pic>
        <p:nvPicPr>
          <p:cNvPr id="3" name="Immagine 49" descr="Immagine che contiene testo, Carattere, logo, schermata&#10;&#10;Il contenuto generato dall'IA potrebbe non essere corretto.">
            <a:extLst>
              <a:ext uri="{FF2B5EF4-FFF2-40B4-BE49-F238E27FC236}">
                <a16:creationId xmlns:a16="http://schemas.microsoft.com/office/drawing/2014/main" id="{4A327153-4A64-BEFB-A04C-DF5FCEB8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076" y="1528354"/>
            <a:ext cx="3977639" cy="5143500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538652" y="3161211"/>
            <a:ext cx="7053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dirty="0" smtClean="0"/>
              <a:t>+</a:t>
            </a:r>
            <a:endParaRPr lang="fr-FR" sz="8800" dirty="0"/>
          </a:p>
        </p:txBody>
      </p:sp>
      <p:sp>
        <p:nvSpPr>
          <p:cNvPr id="5" name="ZoneTexte 4"/>
          <p:cNvSpPr txBox="1"/>
          <p:nvPr/>
        </p:nvSpPr>
        <p:spPr>
          <a:xfrm>
            <a:off x="4023360" y="450787"/>
            <a:ext cx="36706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kern="0" spc="300" dirty="0" smtClean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24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fr-FR" sz="24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685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630" y="143691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 smtClean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657" y="1756954"/>
            <a:ext cx="346165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Use Case</a:t>
            </a:r>
            <a:endParaRPr lang="en-US" sz="3200" dirty="0"/>
          </a:p>
        </p:txBody>
      </p:sp>
      <p:sp>
        <p:nvSpPr>
          <p:cNvPr id="29" name="Text 2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2" t="20345" r="822" b="21811"/>
          <a:stretch/>
        </p:blipFill>
        <p:spPr>
          <a:xfrm>
            <a:off x="3661349" y="143691"/>
            <a:ext cx="6501554" cy="65314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12191695" cy="1234440"/>
          </a:xfrm>
          <a:prstGeom prst="rect">
            <a:avLst/>
          </a:prstGeom>
          <a:solidFill>
            <a:srgbClr val="122A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</a:t>
            </a:r>
            <a:endParaRPr lang="en-US" sz="28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" y="1399033"/>
            <a:ext cx="10502537" cy="54589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0223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9" y="664028"/>
            <a:ext cx="11560628" cy="5543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825" y="2012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8887" y="156417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73825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" y="1115665"/>
            <a:ext cx="10933611" cy="50509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63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</a:t>
            </a:r>
            <a:endParaRPr lang="en-US" sz="3200" dirty="0"/>
          </a:p>
        </p:txBody>
      </p:sp>
      <p:sp>
        <p:nvSpPr>
          <p:cNvPr id="39" name="Shape 30"/>
          <p:cNvSpPr/>
          <p:nvPr/>
        </p:nvSpPr>
        <p:spPr>
          <a:xfrm>
            <a:off x="640080" y="603504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22A4E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house is isolated by house ID / authorization rules to prevent cross-house device access.</a:t>
            </a:r>
            <a:endParaRPr lang="en-US" sz="105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413164"/>
            <a:ext cx="10386060" cy="42394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09036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000" dirty="0"/>
          </a:p>
        </p:txBody>
      </p:sp>
      <p:sp>
        <p:nvSpPr>
          <p:cNvPr id="28" name="Rectangle 27"/>
          <p:cNvSpPr/>
          <p:nvPr/>
        </p:nvSpPr>
        <p:spPr>
          <a:xfrm>
            <a:off x="2076994" y="2780467"/>
            <a:ext cx="110188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DEMONSTRATION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F406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291840" cy="3291840"/>
          </a:xfrm>
          <a:prstGeom prst="ellipse">
            <a:avLst/>
          </a:prstGeom>
          <a:solidFill>
            <a:srgbClr val="1F406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69625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CONCLUSION &amp; PERSPECTIVES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5316583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house that senses.</a:t>
            </a:r>
            <a:endParaRPr lang="en-US" sz="3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understands.</a:t>
            </a:r>
            <a:endParaRPr lang="en-US" sz="3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response that acts.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1463040" cy="0"/>
          </a:xfrm>
          <a:prstGeom prst="line">
            <a:avLst/>
          </a:prstGeom>
          <a:noFill/>
          <a:ln w="25400">
            <a:solidFill>
              <a:srgbClr val="B49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86200"/>
            <a:ext cx="748501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VIGILIS brings together IoT, AI, smart lighting, secure access and emergency response to create a safer, smarter and more responsive home.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49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653</Words>
  <Application>Microsoft Office PowerPoint</Application>
  <PresentationFormat>Grand écran</PresentationFormat>
  <Paragraphs>142</Paragraphs>
  <Slides>19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DengXian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THERESE</cp:lastModifiedBy>
  <cp:revision>49</cp:revision>
  <dcterms:created xsi:type="dcterms:W3CDTF">2026-08-27T09:39:41Z</dcterms:created>
  <dcterms:modified xsi:type="dcterms:W3CDTF">2026-09-02T18:08:39Z</dcterms:modified>
</cp:coreProperties>
</file>